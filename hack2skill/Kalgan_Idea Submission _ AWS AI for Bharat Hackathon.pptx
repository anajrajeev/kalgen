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Manrope SemiBold"/>
      <p:regular r:id="rId16"/>
      <p:bold r:id="rId17"/>
    </p:embeddedFont>
    <p:embeddedFont>
      <p:font typeface="Manrope"/>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anropeSemiBold-bold.fntdata"/><Relationship Id="rId16" Type="http://schemas.openxmlformats.org/officeDocument/2006/relationships/font" Target="fonts/ManropeSemiBold-regular.fntdata"/><Relationship Id="rId5" Type="http://schemas.openxmlformats.org/officeDocument/2006/relationships/slideMaster" Target="slideMasters/slideMaster2.xml"/><Relationship Id="rId19" Type="http://schemas.openxmlformats.org/officeDocument/2006/relationships/font" Target="fonts/Manrope-bold.fntdata"/><Relationship Id="rId6" Type="http://schemas.openxmlformats.org/officeDocument/2006/relationships/notesMaster" Target="notesMasters/notesMaster1.xml"/><Relationship Id="rId18" Type="http://schemas.openxmlformats.org/officeDocument/2006/relationships/font" Target="fonts/Manrope-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d7bf7b77_2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bdd7bf7b77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dd7bf7b77_2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bdd7bf7b77_2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dd7bf7b77_2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bdd7bf7b77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dd7bf7b77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bdd7bf7b77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dd7bf7b77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bdd7bf7b77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dd7bf7b77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bdd7bf7b77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dd7bf7b77_2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bdd7bf7b77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dd7bf7b7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bdd7bf7b7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dd7bf7b77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bdd7bf7b77_2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5" title="Artscfghgboard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0" name="Google Shape;100;p25"/>
          <p:cNvSpPr txBox="1"/>
          <p:nvPr/>
        </p:nvSpPr>
        <p:spPr>
          <a:xfrm>
            <a:off x="383675" y="344699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 sz="1600" u="none" cap="none" strike="noStrike">
                <a:solidFill>
                  <a:srgbClr val="202729"/>
                </a:solidFill>
                <a:latin typeface="Manrope SemiBold"/>
                <a:ea typeface="Manrope SemiBold"/>
                <a:cs typeface="Manrope SemiBold"/>
                <a:sym typeface="Manrope SemiBold"/>
              </a:rPr>
              <a:t>Team Name : Kalgen</a:t>
            </a:r>
            <a:endParaRPr b="0" i="0" sz="1600" u="none" cap="none" strike="noStrike">
              <a:solidFill>
                <a:srgbClr val="202729"/>
              </a:solidFill>
              <a:latin typeface="Manrope SemiBold"/>
              <a:ea typeface="Manrope SemiBold"/>
              <a:cs typeface="Manrope SemiBold"/>
              <a:sym typeface="Manrope SemiBold"/>
            </a:endParaRPr>
          </a:p>
        </p:txBody>
      </p:sp>
      <p:sp>
        <p:nvSpPr>
          <p:cNvPr id="101" name="Google Shape;101;p25"/>
          <p:cNvSpPr txBox="1"/>
          <p:nvPr/>
        </p:nvSpPr>
        <p:spPr>
          <a:xfrm>
            <a:off x="383675" y="4298150"/>
            <a:ext cx="8173200" cy="603300"/>
          </a:xfrm>
          <a:prstGeom prst="rect">
            <a:avLst/>
          </a:prstGeom>
          <a:noFill/>
          <a:ln>
            <a:noFill/>
          </a:ln>
        </p:spPr>
        <p:txBody>
          <a:bodyPr anchorCtr="0" anchor="t" bIns="91425" lIns="91425" spcFirstLastPara="1" rIns="91425" wrap="square" tIns="91425">
            <a:normAutofit fontScale="85000" lnSpcReduction="10000"/>
          </a:bodyPr>
          <a:lstStyle/>
          <a:p>
            <a:pPr indent="0" lvl="0" marL="0" marR="0" rtl="0" algn="l">
              <a:lnSpc>
                <a:spcPct val="70000"/>
              </a:lnSpc>
              <a:spcBef>
                <a:spcPts val="0"/>
              </a:spcBef>
              <a:spcAft>
                <a:spcPts val="0"/>
              </a:spcAft>
              <a:buClr>
                <a:srgbClr val="000000"/>
              </a:buClr>
              <a:buSzPct val="100000"/>
              <a:buFont typeface="Arial"/>
              <a:buNone/>
            </a:pPr>
            <a:r>
              <a:rPr b="0" i="0" lang="en" sz="1600" u="none" cap="none" strike="noStrike">
                <a:solidFill>
                  <a:srgbClr val="202729"/>
                </a:solidFill>
                <a:latin typeface="Manrope SemiBold"/>
                <a:ea typeface="Manrope SemiBold"/>
                <a:cs typeface="Manrope SemiBold"/>
                <a:sym typeface="Manrope SemiBold"/>
              </a:rPr>
              <a:t>Problem Statement : Indian farmers suffer income loss and crop risk due to fragmented information, language barriers, lack of trusted market access, and middlemen dominance, preventing timely decisions, fair pricing, and effective use of government support.</a:t>
            </a:r>
            <a:endParaRPr b="0" i="0" sz="1600" u="none" cap="none" strike="noStrike">
              <a:solidFill>
                <a:srgbClr val="202729"/>
              </a:solidFill>
              <a:latin typeface="Manrope SemiBold"/>
              <a:ea typeface="Manrope SemiBold"/>
              <a:cs typeface="Manrope SemiBold"/>
              <a:sym typeface="Manrope SemiBold"/>
            </a:endParaRPr>
          </a:p>
        </p:txBody>
      </p:sp>
      <p:sp>
        <p:nvSpPr>
          <p:cNvPr id="102" name="Google Shape;102;p25"/>
          <p:cNvSpPr txBox="1"/>
          <p:nvPr/>
        </p:nvSpPr>
        <p:spPr>
          <a:xfrm>
            <a:off x="383663" y="385445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 sz="1600" u="none" cap="none" strike="noStrike">
                <a:solidFill>
                  <a:srgbClr val="202729"/>
                </a:solidFill>
                <a:latin typeface="Manrope SemiBold"/>
                <a:ea typeface="Manrope SemiBold"/>
                <a:cs typeface="Manrope SemiBold"/>
                <a:sym typeface="Manrope SemiBold"/>
              </a:rPr>
              <a:t>Team Leader Name : Anaj Rajeev</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6" title="Artboarddfghjk – 6.png"/>
          <p:cNvPicPr preferRelativeResize="0"/>
          <p:nvPr/>
        </p:nvPicPr>
        <p:blipFill rotWithShape="1">
          <a:blip r:embed="rId3">
            <a:alphaModFix/>
          </a:blip>
          <a:srcRect b="0" l="0" r="0" t="0"/>
          <a:stretch/>
        </p:blipFill>
        <p:spPr>
          <a:xfrm>
            <a:off x="-12" y="0"/>
            <a:ext cx="9144018" cy="5143501"/>
          </a:xfrm>
          <a:prstGeom prst="rect">
            <a:avLst/>
          </a:prstGeom>
          <a:noFill/>
          <a:ln>
            <a:noFill/>
          </a:ln>
        </p:spPr>
      </p:pic>
      <p:sp>
        <p:nvSpPr>
          <p:cNvPr id="108" name="Google Shape;108;p26"/>
          <p:cNvSpPr txBox="1"/>
          <p:nvPr/>
        </p:nvSpPr>
        <p:spPr>
          <a:xfrm>
            <a:off x="311700" y="863550"/>
            <a:ext cx="2403000" cy="465900"/>
          </a:xfrm>
          <a:prstGeom prst="rect">
            <a:avLst/>
          </a:prstGeom>
          <a:noFill/>
          <a:ln>
            <a:noFill/>
          </a:ln>
        </p:spPr>
        <p:txBody>
          <a:bodyPr anchorCtr="0" anchor="t" bIns="91425" lIns="91425" spcFirstLastPara="1" rIns="91425" wrap="square" tIns="91425">
            <a:normAutofit/>
          </a:bodyPr>
          <a:lstStyle/>
          <a:p>
            <a:pPr indent="0" lvl="0" marL="0" marR="0" rtl="0" algn="l">
              <a:lnSpc>
                <a:spcPct val="95000"/>
              </a:lnSpc>
              <a:spcBef>
                <a:spcPts val="0"/>
              </a:spcBef>
              <a:spcAft>
                <a:spcPts val="1200"/>
              </a:spcAft>
              <a:buClr>
                <a:srgbClr val="000000"/>
              </a:buClr>
              <a:buSzPts val="935"/>
              <a:buFont typeface="Arial"/>
              <a:buNone/>
            </a:pPr>
            <a:r>
              <a:rPr b="1" i="0" lang="en" sz="1635" u="none" cap="none" strike="noStrike">
                <a:solidFill>
                  <a:srgbClr val="202729"/>
                </a:solidFill>
                <a:latin typeface="Manrope"/>
                <a:ea typeface="Manrope"/>
                <a:cs typeface="Manrope"/>
                <a:sym typeface="Manrope"/>
              </a:rPr>
              <a:t>Brief about the Idea:</a:t>
            </a:r>
            <a:endParaRPr b="1" i="0" sz="1635" u="none" cap="none" strike="noStrike">
              <a:solidFill>
                <a:srgbClr val="202729"/>
              </a:solidFill>
              <a:latin typeface="Manrope"/>
              <a:ea typeface="Manrope"/>
              <a:cs typeface="Manrope"/>
              <a:sym typeface="Manrope"/>
            </a:endParaRPr>
          </a:p>
        </p:txBody>
      </p:sp>
      <p:sp>
        <p:nvSpPr>
          <p:cNvPr id="109" name="Google Shape;109;p26"/>
          <p:cNvSpPr txBox="1"/>
          <p:nvPr/>
        </p:nvSpPr>
        <p:spPr>
          <a:xfrm>
            <a:off x="311700" y="1210033"/>
            <a:ext cx="8234159" cy="465816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b="0" i="0" lang="en" sz="1200" u="none" cap="none" strike="noStrike">
                <a:solidFill>
                  <a:schemeClr val="dk1"/>
                </a:solidFill>
                <a:latin typeface="Arial"/>
                <a:ea typeface="Arial"/>
                <a:cs typeface="Arial"/>
                <a:sym typeface="Arial"/>
              </a:rPr>
              <a:t>This solution is a </a:t>
            </a:r>
            <a:r>
              <a:rPr b="1" i="0" lang="en" sz="1200" u="none" cap="none" strike="noStrike">
                <a:solidFill>
                  <a:schemeClr val="dk1"/>
                </a:solidFill>
                <a:latin typeface="Arial"/>
                <a:ea typeface="Arial"/>
                <a:cs typeface="Arial"/>
                <a:sym typeface="Arial"/>
              </a:rPr>
              <a:t>unified AI-powered agricultural platform</a:t>
            </a:r>
            <a:r>
              <a:rPr b="0" i="0" lang="en" sz="1200" u="none" cap="none" strike="noStrike">
                <a:solidFill>
                  <a:schemeClr val="dk1"/>
                </a:solidFill>
                <a:latin typeface="Arial"/>
                <a:ea typeface="Arial"/>
                <a:cs typeface="Arial"/>
                <a:sym typeface="Arial"/>
              </a:rPr>
              <a:t> that enables farmers to </a:t>
            </a:r>
            <a:r>
              <a:rPr b="1" i="0" lang="en" sz="1200" u="none" cap="none" strike="noStrike">
                <a:solidFill>
                  <a:schemeClr val="dk1"/>
                </a:solidFill>
                <a:latin typeface="Arial"/>
                <a:ea typeface="Arial"/>
                <a:cs typeface="Arial"/>
                <a:sym typeface="Arial"/>
              </a:rPr>
              <a:t>make better farming decisions and sell their produce at fair prices</a:t>
            </a:r>
            <a:r>
              <a:rPr b="0" i="0" lang="en" sz="1200" u="none" cap="none" strike="noStrike">
                <a:solidFill>
                  <a:schemeClr val="dk1"/>
                </a:solidFill>
                <a:latin typeface="Arial"/>
                <a:ea typeface="Arial"/>
                <a:cs typeface="Arial"/>
                <a:sym typeface="Arial"/>
              </a:rPr>
              <a:t> through one simple system.</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 Farmers interact using </a:t>
            </a:r>
            <a:r>
              <a:rPr b="1" i="0" lang="en" sz="1200" u="none" cap="none" strike="noStrike">
                <a:solidFill>
                  <a:schemeClr val="dk1"/>
                </a:solidFill>
                <a:latin typeface="Arial"/>
                <a:ea typeface="Arial"/>
                <a:cs typeface="Arial"/>
                <a:sym typeface="Arial"/>
              </a:rPr>
              <a:t>voice, text, or images in their local language</a:t>
            </a:r>
            <a:r>
              <a:rPr b="0" i="0" lang="en" sz="1200" u="none" cap="none" strike="noStrike">
                <a:solidFill>
                  <a:schemeClr val="dk1"/>
                </a:solidFill>
                <a:latin typeface="Arial"/>
                <a:ea typeface="Arial"/>
                <a:cs typeface="Arial"/>
                <a:sym typeface="Arial"/>
              </a:rPr>
              <a:t>, while the platform provides </a:t>
            </a:r>
            <a:r>
              <a:rPr b="1" i="0" lang="en" sz="1200" u="none" cap="none" strike="noStrike">
                <a:solidFill>
                  <a:schemeClr val="dk1"/>
                </a:solidFill>
                <a:latin typeface="Arial"/>
                <a:ea typeface="Arial"/>
                <a:cs typeface="Arial"/>
                <a:sym typeface="Arial"/>
              </a:rPr>
              <a:t>real-time AI advisory</a:t>
            </a:r>
            <a:r>
              <a:rPr b="0" i="0" lang="en" sz="1200" u="none" cap="none" strike="noStrike">
                <a:solidFill>
                  <a:schemeClr val="dk1"/>
                </a:solidFill>
                <a:latin typeface="Arial"/>
                <a:ea typeface="Arial"/>
                <a:cs typeface="Arial"/>
                <a:sym typeface="Arial"/>
              </a:rPr>
              <a:t> such as crop and soil analysis, weather and yield predictions, disease detection, and government scheme guidance.</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 To ensure fair trade, the platform </a:t>
            </a:r>
            <a:r>
              <a:rPr b="1" i="0" lang="en" sz="1200" u="none" cap="none" strike="noStrike">
                <a:solidFill>
                  <a:schemeClr val="dk1"/>
                </a:solidFill>
                <a:latin typeface="Arial"/>
                <a:ea typeface="Arial"/>
                <a:cs typeface="Arial"/>
                <a:sym typeface="Arial"/>
              </a:rPr>
              <a:t>translates and enables communication across different languages in real time</a:t>
            </a:r>
            <a:r>
              <a:rPr b="0" i="0" lang="en" sz="1200" u="none" cap="none" strike="noStrike">
                <a:solidFill>
                  <a:schemeClr val="dk1"/>
                </a:solidFill>
                <a:latin typeface="Arial"/>
                <a:ea typeface="Arial"/>
                <a:cs typeface="Arial"/>
                <a:sym typeface="Arial"/>
              </a:rPr>
              <a:t>, allowing farmers and buyers from </a:t>
            </a:r>
            <a:r>
              <a:rPr b="1" i="0" lang="en" sz="1200" u="none" cap="none" strike="noStrike">
                <a:solidFill>
                  <a:schemeClr val="dk1"/>
                </a:solidFill>
                <a:latin typeface="Arial"/>
                <a:ea typeface="Arial"/>
                <a:cs typeface="Arial"/>
                <a:sym typeface="Arial"/>
              </a:rPr>
              <a:t>different regions or states to negotiate directly without language barriers</a:t>
            </a:r>
            <a:r>
              <a:rPr b="0" i="0" lang="en" sz="1200" u="none" cap="none" strike="noStrike">
                <a:solidFill>
                  <a:schemeClr val="dk1"/>
                </a:solidFill>
                <a:latin typeface="Arial"/>
                <a:ea typeface="Arial"/>
                <a:cs typeface="Arial"/>
                <a:sym typeface="Arial"/>
              </a:rPr>
              <a:t>, thereby </a:t>
            </a:r>
            <a:r>
              <a:rPr b="1" i="0" lang="en" sz="1200" u="none" cap="none" strike="noStrike">
                <a:solidFill>
                  <a:schemeClr val="dk1"/>
                </a:solidFill>
                <a:latin typeface="Arial"/>
                <a:ea typeface="Arial"/>
                <a:cs typeface="Arial"/>
                <a:sym typeface="Arial"/>
              </a:rPr>
              <a:t>eliminating middlemen</a:t>
            </a:r>
            <a:r>
              <a:rPr b="0" i="0" lang="en" sz="1200" u="none" cap="none" strike="noStrike">
                <a:solidFill>
                  <a:schemeClr val="dk1"/>
                </a:solidFill>
                <a:latin typeface="Arial"/>
                <a:ea typeface="Arial"/>
                <a:cs typeface="Arial"/>
                <a:sym typeface="Arial"/>
              </a:rPr>
              <a:t>.</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 By combining </a:t>
            </a:r>
            <a:r>
              <a:rPr b="1" i="0" lang="en" sz="1200" u="none" cap="none" strike="noStrike">
                <a:solidFill>
                  <a:schemeClr val="dk1"/>
                </a:solidFill>
                <a:latin typeface="Arial"/>
                <a:ea typeface="Arial"/>
                <a:cs typeface="Arial"/>
                <a:sym typeface="Arial"/>
              </a:rPr>
              <a:t>multilingual AI advisory, trusted buyer–seller matching, transparent pricing, and logistics intelligence</a:t>
            </a:r>
            <a:r>
              <a:rPr b="0" i="0" lang="en" sz="1200" u="none" cap="none" strike="noStrike">
                <a:solidFill>
                  <a:schemeClr val="dk1"/>
                </a:solidFill>
                <a:latin typeface="Arial"/>
                <a:ea typeface="Arial"/>
                <a:cs typeface="Arial"/>
                <a:sym typeface="Arial"/>
              </a:rPr>
              <a:t> into a single ecosystem, the platform increases farmer income, reduces crop loss and fraud, and enables scalable, sustainable, and borderless rural commerce.</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rgbClr val="000000"/>
                </a:solidFill>
                <a:latin typeface="Arial"/>
                <a:ea typeface="Arial"/>
                <a:cs typeface="Arial"/>
                <a:sym typeface="Arial"/>
              </a:rPr>
              <a:t>Ultimately, it empowers farmers with fair prices, timely information, and trusted access to markets, while building a transparent, sustainable, and inclusive rural agricultural ecosystem.</a:t>
            </a:r>
            <a:endParaRPr/>
          </a:p>
          <a:p>
            <a:pPr indent="0" lvl="0" marL="0" marR="0" rtl="0" algn="l">
              <a:lnSpc>
                <a:spcPct val="115000"/>
              </a:lnSpc>
              <a:spcBef>
                <a:spcPts val="2400"/>
              </a:spcBef>
              <a:spcAft>
                <a:spcPts val="120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7"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5" name="Google Shape;115;p27"/>
          <p:cNvSpPr txBox="1"/>
          <p:nvPr/>
        </p:nvSpPr>
        <p:spPr>
          <a:xfrm>
            <a:off x="311700" y="863550"/>
            <a:ext cx="7676400" cy="3812400"/>
          </a:xfrm>
          <a:prstGeom prst="rect">
            <a:avLst/>
          </a:prstGeom>
          <a:noFill/>
          <a:ln>
            <a:noFill/>
          </a:ln>
        </p:spPr>
        <p:txBody>
          <a:bodyPr anchorCtr="0" anchor="t" bIns="91425" lIns="91425" spcFirstLastPara="1" rIns="91425" wrap="square" tIns="91425">
            <a:normAutofit fontScale="92500" lnSpcReduction="10000"/>
          </a:bodyPr>
          <a:lstStyle/>
          <a:p>
            <a:pPr indent="0" lvl="0" marL="0" marR="0" rtl="0" algn="l">
              <a:lnSpc>
                <a:spcPct val="115000"/>
              </a:lnSpc>
              <a:spcBef>
                <a:spcPts val="0"/>
              </a:spcBef>
              <a:spcAft>
                <a:spcPts val="0"/>
              </a:spcAft>
              <a:buClr>
                <a:srgbClr val="000000"/>
              </a:buClr>
              <a:buSzPct val="55000"/>
              <a:buFont typeface="Arial"/>
              <a:buNone/>
            </a:pPr>
            <a:r>
              <a:rPr b="1" i="0" lang="en" sz="1700" u="none" cap="none" strike="noStrike">
                <a:solidFill>
                  <a:srgbClr val="202729"/>
                </a:solidFill>
                <a:latin typeface="Arial"/>
                <a:ea typeface="Arial"/>
                <a:cs typeface="Arial"/>
                <a:sym typeface="Arial"/>
              </a:rPr>
              <a:t>Solution explained</a:t>
            </a:r>
            <a:endParaRPr b="1" i="0" sz="1700" u="none" cap="none" strike="noStrike">
              <a:solidFill>
                <a:srgbClr val="202729"/>
              </a:solidFill>
              <a:latin typeface="Arial"/>
              <a:ea typeface="Arial"/>
              <a:cs typeface="Arial"/>
              <a:sym typeface="Arial"/>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 sz="1600" u="none" cap="none" strike="noStrike">
                <a:solidFill>
                  <a:srgbClr val="202729"/>
                </a:solidFill>
                <a:latin typeface="Arial"/>
                <a:ea typeface="Arial"/>
                <a:cs typeface="Arial"/>
                <a:sym typeface="Arial"/>
              </a:rPr>
              <a:t>How different is it from any of the other existing ideas?</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chemeClr val="dk1"/>
                </a:solidFill>
                <a:latin typeface="Arial"/>
                <a:ea typeface="Arial"/>
                <a:cs typeface="Arial"/>
                <a:sym typeface="Arial"/>
              </a:rPr>
              <a:t>Existing platforms solve </a:t>
            </a:r>
            <a:r>
              <a:rPr b="1" i="0" lang="en" sz="1100" u="none" cap="none" strike="noStrike">
                <a:solidFill>
                  <a:schemeClr val="dk1"/>
                </a:solidFill>
                <a:latin typeface="Arial"/>
                <a:ea typeface="Arial"/>
                <a:cs typeface="Arial"/>
                <a:sym typeface="Arial"/>
              </a:rPr>
              <a:t>either advisory or marketplace</a:t>
            </a:r>
            <a:r>
              <a:rPr b="0" i="0" lang="en" sz="1100" u="none" cap="none" strike="noStrike">
                <a:solidFill>
                  <a:schemeClr val="dk1"/>
                </a:solidFill>
                <a:latin typeface="Arial"/>
                <a:ea typeface="Arial"/>
                <a:cs typeface="Arial"/>
                <a:sym typeface="Arial"/>
              </a:rPr>
              <a:t>, this integrates </a:t>
            </a:r>
            <a:r>
              <a:rPr b="1" i="0" lang="en" sz="1100" u="none" cap="none" strike="noStrike">
                <a:solidFill>
                  <a:schemeClr val="dk1"/>
                </a:solidFill>
                <a:latin typeface="Arial"/>
                <a:ea typeface="Arial"/>
                <a:cs typeface="Arial"/>
                <a:sym typeface="Arial"/>
              </a:rPr>
              <a:t>both decision-making and selling</a:t>
            </a:r>
            <a:r>
              <a:rPr b="0" i="0" lang="en" sz="1100" u="none" cap="none" strike="noStrike">
                <a:solidFill>
                  <a:schemeClr val="dk1"/>
                </a:solidFill>
                <a:latin typeface="Arial"/>
                <a:ea typeface="Arial"/>
                <a:cs typeface="Arial"/>
                <a:sym typeface="Arial"/>
              </a:rPr>
              <a:t> in one system.</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chemeClr val="dk1"/>
                </a:solidFill>
                <a:latin typeface="Arial"/>
                <a:ea typeface="Arial"/>
                <a:cs typeface="Arial"/>
                <a:sym typeface="Arial"/>
              </a:rPr>
              <a:t>Unlike text-heavy apps, it is </a:t>
            </a:r>
            <a:r>
              <a:rPr b="1" i="0" lang="en" sz="1100" u="none" cap="none" strike="noStrike">
                <a:solidFill>
                  <a:schemeClr val="dk1"/>
                </a:solidFill>
                <a:latin typeface="Arial"/>
                <a:ea typeface="Arial"/>
                <a:cs typeface="Arial"/>
                <a:sym typeface="Arial"/>
              </a:rPr>
              <a:t>voice-first, image-enabled, and real-time multilingual</a:t>
            </a:r>
            <a:r>
              <a:rPr b="0" i="0" lang="en" sz="1100" u="none" cap="none" strike="noStrike">
                <a:solidFill>
                  <a:schemeClr val="dk1"/>
                </a:solidFill>
                <a:latin typeface="Arial"/>
                <a:ea typeface="Arial"/>
                <a:cs typeface="Arial"/>
                <a:sym typeface="Arial"/>
              </a:rPr>
              <a:t>, built for low-literacy users.</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chemeClr val="dk1"/>
                </a:solidFill>
                <a:latin typeface="Arial"/>
                <a:ea typeface="Arial"/>
                <a:cs typeface="Arial"/>
                <a:sym typeface="Arial"/>
              </a:rPr>
              <a:t>It replaces blind matchmaking with </a:t>
            </a:r>
            <a:r>
              <a:rPr b="1" i="0" lang="en" sz="1100" u="none" cap="none" strike="noStrike">
                <a:solidFill>
                  <a:schemeClr val="dk1"/>
                </a:solidFill>
                <a:latin typeface="Arial"/>
                <a:ea typeface="Arial"/>
                <a:cs typeface="Arial"/>
                <a:sym typeface="Arial"/>
              </a:rPr>
              <a:t>AI-based trust ranking, verification, and price intelligence</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ct val="100000"/>
              <a:buFont typeface="Arial"/>
              <a:buNone/>
            </a:pPr>
            <a:r>
              <a:t/>
            </a:r>
            <a:endParaRPr b="0" i="0" sz="1100" u="none" cap="none" strike="noStrike">
              <a:solidFill>
                <a:schemeClr val="dk1"/>
              </a:solidFill>
              <a:latin typeface="Arial"/>
              <a:ea typeface="Arial"/>
              <a:cs typeface="Arial"/>
              <a:sym typeface="Arial"/>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 sz="1600" u="none" cap="none" strike="noStrike">
                <a:solidFill>
                  <a:srgbClr val="202729"/>
                </a:solidFill>
                <a:latin typeface="Arial"/>
                <a:ea typeface="Arial"/>
                <a:cs typeface="Arial"/>
                <a:sym typeface="Arial"/>
              </a:rPr>
              <a:t>How will it be able to solve the problem?</a:t>
            </a:r>
            <a:endParaRPr b="0" i="0" sz="1600" u="none" cap="none" strike="noStrike">
              <a:solidFill>
                <a:srgbClr val="202729"/>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chemeClr val="dk1"/>
                </a:solidFill>
                <a:latin typeface="Arial"/>
                <a:ea typeface="Arial"/>
                <a:cs typeface="Arial"/>
                <a:sym typeface="Arial"/>
              </a:rPr>
              <a:t>Farmers receive </a:t>
            </a:r>
            <a:r>
              <a:rPr b="1" i="0" lang="en" sz="1100" u="none" cap="none" strike="noStrike">
                <a:solidFill>
                  <a:schemeClr val="dk1"/>
                </a:solidFill>
                <a:latin typeface="Arial"/>
                <a:ea typeface="Arial"/>
                <a:cs typeface="Arial"/>
                <a:sym typeface="Arial"/>
              </a:rPr>
              <a:t>predictive, personalized guidance</a:t>
            </a:r>
            <a:r>
              <a:rPr b="0" i="0" lang="en" sz="1100" u="none" cap="none" strike="noStrike">
                <a:solidFill>
                  <a:schemeClr val="dk1"/>
                </a:solidFill>
                <a:latin typeface="Arial"/>
                <a:ea typeface="Arial"/>
                <a:cs typeface="Arial"/>
                <a:sym typeface="Arial"/>
              </a:rPr>
              <a:t> (crop, weather, schemes) before losses occur.</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1" i="0" lang="en" sz="1100" u="none" cap="none" strike="noStrike">
                <a:solidFill>
                  <a:schemeClr val="dk1"/>
                </a:solidFill>
                <a:latin typeface="Arial"/>
                <a:ea typeface="Arial"/>
                <a:cs typeface="Arial"/>
                <a:sym typeface="Arial"/>
              </a:rPr>
              <a:t>Real-time language translation</a:t>
            </a:r>
            <a:r>
              <a:rPr b="0" i="0" lang="en" sz="1100" u="none" cap="none" strike="noStrike">
                <a:solidFill>
                  <a:schemeClr val="dk1"/>
                </a:solidFill>
                <a:latin typeface="Arial"/>
                <a:ea typeface="Arial"/>
                <a:cs typeface="Arial"/>
                <a:sym typeface="Arial"/>
              </a:rPr>
              <a:t> allows direct negotiation with verified buyers across regions, removing middlemen.</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0" i="0" lang="en" sz="1100" u="none" cap="none" strike="noStrike">
                <a:solidFill>
                  <a:schemeClr val="dk1"/>
                </a:solidFill>
                <a:latin typeface="Arial"/>
                <a:ea typeface="Arial"/>
                <a:cs typeface="Arial"/>
                <a:sym typeface="Arial"/>
              </a:rPr>
              <a:t>AI-driven trust checks, pricing, and logistics ensure </a:t>
            </a:r>
            <a:r>
              <a:rPr b="1" i="0" lang="en" sz="1100" u="none" cap="none" strike="noStrike">
                <a:solidFill>
                  <a:schemeClr val="dk1"/>
                </a:solidFill>
                <a:latin typeface="Arial"/>
                <a:ea typeface="Arial"/>
                <a:cs typeface="Arial"/>
                <a:sym typeface="Arial"/>
              </a:rPr>
              <a:t>fair, transparent, and safe transactions</a:t>
            </a:r>
            <a:r>
              <a:rPr b="0" i="0" lang="en"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ct val="100000"/>
              <a:buFont typeface="Arial"/>
              <a:buNone/>
            </a:pPr>
            <a:r>
              <a:t/>
            </a:r>
            <a:endParaRPr b="0" i="0" sz="1100" u="none" cap="none" strike="noStrike">
              <a:solidFill>
                <a:schemeClr val="dk1"/>
              </a:solidFill>
              <a:latin typeface="Arial"/>
              <a:ea typeface="Arial"/>
              <a:cs typeface="Arial"/>
              <a:sym typeface="Arial"/>
            </a:endParaRPr>
          </a:p>
          <a:p>
            <a:pPr indent="-322580" lvl="0" marL="457200" marR="0" rtl="0" algn="l">
              <a:lnSpc>
                <a:spcPct val="115000"/>
              </a:lnSpc>
              <a:spcBef>
                <a:spcPts val="1200"/>
              </a:spcBef>
              <a:spcAft>
                <a:spcPts val="0"/>
              </a:spcAft>
              <a:buClr>
                <a:srgbClr val="202729"/>
              </a:buClr>
              <a:buSzPct val="100000"/>
              <a:buFont typeface="Manrope SemiBold"/>
              <a:buChar char="●"/>
            </a:pPr>
            <a:r>
              <a:rPr b="0" i="0" lang="en" sz="1600" u="none" cap="none" strike="noStrike">
                <a:solidFill>
                  <a:srgbClr val="202729"/>
                </a:solidFill>
                <a:latin typeface="Arial"/>
                <a:ea typeface="Arial"/>
                <a:cs typeface="Arial"/>
                <a:sym typeface="Arial"/>
              </a:rPr>
              <a:t>USP of the proposed solution</a:t>
            </a:r>
            <a:endParaRPr b="0" i="0" sz="1600" u="none" cap="none" strike="noStrike">
              <a:solidFill>
                <a:srgbClr val="202729"/>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1" i="0" lang="en" sz="1100" u="none" cap="none" strike="noStrike">
                <a:solidFill>
                  <a:schemeClr val="dk1"/>
                </a:solidFill>
                <a:latin typeface="Arial"/>
                <a:ea typeface="Arial"/>
                <a:cs typeface="Arial"/>
                <a:sym typeface="Arial"/>
              </a:rPr>
              <a:t>End-to-end AI ecosystem</a:t>
            </a:r>
            <a:r>
              <a:rPr b="0" i="0" lang="en" sz="1100" u="none" cap="none" strike="noStrike">
                <a:solidFill>
                  <a:schemeClr val="dk1"/>
                </a:solidFill>
                <a:latin typeface="Arial"/>
                <a:ea typeface="Arial"/>
                <a:cs typeface="Arial"/>
                <a:sym typeface="Arial"/>
              </a:rPr>
              <a:t>: advisory + trusted marketplace in one platform.</a:t>
            </a:r>
            <a:endParaRPr b="0" i="0" sz="1100" u="none" cap="none" strike="noStrike">
              <a:solidFill>
                <a:schemeClr val="dk1"/>
              </a:solidFill>
              <a:latin typeface="Arial"/>
              <a:ea typeface="Arial"/>
              <a:cs typeface="Arial"/>
              <a:sym typeface="Arial"/>
            </a:endParaRPr>
          </a:p>
          <a:p>
            <a:pPr indent="-293242" lvl="0" marL="457200" marR="0" rtl="0" algn="l">
              <a:lnSpc>
                <a:spcPct val="115000"/>
              </a:lnSpc>
              <a:spcBef>
                <a:spcPts val="0"/>
              </a:spcBef>
              <a:spcAft>
                <a:spcPts val="0"/>
              </a:spcAft>
              <a:buClr>
                <a:schemeClr val="dk1"/>
              </a:buClr>
              <a:buSzPct val="100000"/>
              <a:buFont typeface="Arial"/>
              <a:buChar char="●"/>
            </a:pPr>
            <a:r>
              <a:rPr b="1" i="0" lang="en" sz="1100" u="none" cap="none" strike="noStrike">
                <a:solidFill>
                  <a:schemeClr val="dk1"/>
                </a:solidFill>
                <a:latin typeface="Arial"/>
                <a:ea typeface="Arial"/>
                <a:cs typeface="Arial"/>
                <a:sym typeface="Arial"/>
              </a:rPr>
              <a:t>Voice-first, multilingual, multimodal AI</a:t>
            </a:r>
            <a:r>
              <a:rPr b="0" i="0" lang="en" sz="1100" u="none" cap="none" strike="noStrike">
                <a:solidFill>
                  <a:schemeClr val="dk1"/>
                </a:solidFill>
                <a:latin typeface="Arial"/>
                <a:ea typeface="Arial"/>
                <a:cs typeface="Arial"/>
                <a:sym typeface="Arial"/>
              </a:rPr>
              <a:t> designed for real rural usage.</a:t>
            </a:r>
            <a:endParaRPr/>
          </a:p>
          <a:p>
            <a:pPr indent="-293242" lvl="0" marL="457200" marR="0" rtl="0" algn="l">
              <a:lnSpc>
                <a:spcPct val="115000"/>
              </a:lnSpc>
              <a:spcBef>
                <a:spcPts val="0"/>
              </a:spcBef>
              <a:spcAft>
                <a:spcPts val="0"/>
              </a:spcAft>
              <a:buClr>
                <a:schemeClr val="dk1"/>
              </a:buClr>
              <a:buSzPct val="100000"/>
              <a:buFont typeface="Arial"/>
              <a:buChar char="●"/>
            </a:pPr>
            <a:r>
              <a:rPr b="1" i="0" lang="en" sz="1100" u="none" cap="none" strike="noStrike">
                <a:solidFill>
                  <a:schemeClr val="dk1"/>
                </a:solidFill>
                <a:latin typeface="Arial"/>
                <a:ea typeface="Arial"/>
                <a:cs typeface="Arial"/>
                <a:sym typeface="Arial"/>
              </a:rPr>
              <a:t>Trust re-ranking engine + real-time translation</a:t>
            </a:r>
            <a:r>
              <a:rPr b="0" i="0" lang="en" sz="1100" u="none" cap="none" strike="noStrike">
                <a:solidFill>
                  <a:schemeClr val="dk1"/>
                </a:solidFill>
                <a:latin typeface="Arial"/>
                <a:ea typeface="Arial"/>
                <a:cs typeface="Arial"/>
                <a:sym typeface="Arial"/>
              </a:rPr>
              <a:t> enabling fair, borderless agricultural trade.</a:t>
            </a:r>
            <a:endParaRPr b="0" i="0" sz="1600" u="none" cap="none" strike="noStrike">
              <a:solidFill>
                <a:srgbClr val="202729"/>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8"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1" name="Google Shape;121;p28"/>
          <p:cNvSpPr txBox="1"/>
          <p:nvPr/>
        </p:nvSpPr>
        <p:spPr>
          <a:xfrm>
            <a:off x="101300" y="576700"/>
            <a:ext cx="9008700" cy="45201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Arial"/>
                <a:ea typeface="Arial"/>
                <a:cs typeface="Arial"/>
                <a:sym typeface="Arial"/>
              </a:rPr>
              <a:t>List of features offered by the solution</a:t>
            </a:r>
            <a:endParaRPr b="1" i="0" sz="1700" u="none" cap="none" strike="noStrike">
              <a:solidFill>
                <a:srgbClr val="202729"/>
              </a:solidFill>
              <a:latin typeface="Arial"/>
              <a:ea typeface="Arial"/>
              <a:cs typeface="Arial"/>
              <a:sym typeface="Arial"/>
            </a:endParaRPr>
          </a:p>
          <a:p>
            <a:pPr indent="-324032" lvl="0" marL="457200" marR="0" rtl="0" algn="l">
              <a:lnSpc>
                <a:spcPct val="115000"/>
              </a:lnSpc>
              <a:spcBef>
                <a:spcPts val="120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Voice-first interaction in local languages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Real-time translation across multiple Indian languages for buyer–seller communication</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Multimodal input support (voice, text, images)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AI-based crop disease and soil condition detection using images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Weather, yield, flood, and drought prediction alerts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Personalized crop and farming recommendations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Government scheme discovery, eligibility checks, and guided application support</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Verified buyer–seller matching using AI trust ranking</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Middleman-free price discovery with real-time market price intelligence</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GST, transaction, and image-based verification to reduce fraud</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Logistics and transport optimization suggestions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Transparent deal tracking and transaction history</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Region-specific insights based on local trends and demand signals</a:t>
            </a:r>
            <a:endParaRPr b="0" i="0" u="none" cap="none" strike="noStrike">
              <a:solidFill>
                <a:schemeClr val="dk1"/>
              </a:solidFill>
              <a:latin typeface="Arial"/>
              <a:ea typeface="Arial"/>
              <a:cs typeface="Arial"/>
              <a:sym typeface="Arial"/>
            </a:endParaRPr>
          </a:p>
          <a:p>
            <a:pPr indent="-324032" lvl="0" marL="457200" marR="0" rtl="0" algn="l">
              <a:lnSpc>
                <a:spcPct val="115000"/>
              </a:lnSpc>
              <a:spcBef>
                <a:spcPts val="0"/>
              </a:spcBef>
              <a:spcAft>
                <a:spcPts val="0"/>
              </a:spcAft>
              <a:buClr>
                <a:schemeClr val="dk1"/>
              </a:buClr>
              <a:buSzPts val="1503"/>
              <a:buFont typeface="Manrope"/>
              <a:buChar char="●"/>
            </a:pPr>
            <a:r>
              <a:rPr b="0" i="0" lang="en" u="none" cap="none" strike="noStrike">
                <a:solidFill>
                  <a:schemeClr val="dk1"/>
                </a:solidFill>
                <a:latin typeface="Arial"/>
                <a:ea typeface="Arial"/>
                <a:cs typeface="Arial"/>
                <a:sym typeface="Arial"/>
              </a:rPr>
              <a:t>Scalable, API-driven architecture for multi-state and cross-border expansion</a:t>
            </a:r>
            <a:endParaRPr b="0" i="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9"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7" name="Google Shape;127;p29"/>
          <p:cNvSpPr txBox="1"/>
          <p:nvPr/>
        </p:nvSpPr>
        <p:spPr>
          <a:xfrm>
            <a:off x="241575" y="551825"/>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Process flow diagram or Use-case diagram</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1200"/>
              </a:spcAft>
              <a:buClr>
                <a:srgbClr val="000000"/>
              </a:buClr>
              <a:buSzPts val="935"/>
              <a:buFont typeface="Arial"/>
              <a:buNone/>
            </a:pPr>
            <a:r>
              <a:t/>
            </a:r>
            <a:endParaRPr b="0" i="0" sz="1400" u="none" cap="none" strike="noStrike">
              <a:solidFill>
                <a:srgbClr val="434343"/>
              </a:solidFill>
              <a:latin typeface="Manrope"/>
              <a:ea typeface="Manrope"/>
              <a:cs typeface="Manrope"/>
              <a:sym typeface="Manrope"/>
            </a:endParaRPr>
          </a:p>
        </p:txBody>
      </p:sp>
      <p:pic>
        <p:nvPicPr>
          <p:cNvPr id="128" name="Google Shape;128;p29"/>
          <p:cNvPicPr preferRelativeResize="0"/>
          <p:nvPr/>
        </p:nvPicPr>
        <p:blipFill rotWithShape="1">
          <a:blip r:embed="rId4">
            <a:alphaModFix/>
          </a:blip>
          <a:srcRect b="0" l="0" r="0" t="0"/>
          <a:stretch/>
        </p:blipFill>
        <p:spPr>
          <a:xfrm>
            <a:off x="417800" y="942975"/>
            <a:ext cx="7048075" cy="405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30"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34" name="Google Shape;134;p30"/>
          <p:cNvSpPr txBox="1"/>
          <p:nvPr/>
        </p:nvSpPr>
        <p:spPr>
          <a:xfrm>
            <a:off x="342875" y="537700"/>
            <a:ext cx="7531800" cy="39642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Architecture diagram of the proposed solution:</a:t>
            </a:r>
            <a:endParaRPr b="0" i="0" sz="1400" u="none" cap="none" strike="noStrike">
              <a:solidFill>
                <a:srgbClr val="434343"/>
              </a:solidFill>
              <a:latin typeface="Manrope"/>
              <a:ea typeface="Manrope"/>
              <a:cs typeface="Manrope"/>
              <a:sym typeface="Manrope"/>
            </a:endParaRPr>
          </a:p>
        </p:txBody>
      </p:sp>
      <p:pic>
        <p:nvPicPr>
          <p:cNvPr id="135" name="Google Shape;135;p30" title="Condensed_arch (1).jpg"/>
          <p:cNvPicPr preferRelativeResize="0"/>
          <p:nvPr/>
        </p:nvPicPr>
        <p:blipFill rotWithShape="1">
          <a:blip r:embed="rId4">
            <a:alphaModFix/>
          </a:blip>
          <a:srcRect b="0" l="0" r="0" t="0"/>
          <a:stretch/>
        </p:blipFill>
        <p:spPr>
          <a:xfrm>
            <a:off x="172300" y="966350"/>
            <a:ext cx="8722611" cy="3535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31"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41" name="Google Shape;141;p31"/>
          <p:cNvSpPr txBox="1"/>
          <p:nvPr/>
        </p:nvSpPr>
        <p:spPr>
          <a:xfrm>
            <a:off x="311700" y="863550"/>
            <a:ext cx="7531800" cy="36696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Technologies to be used in the solution:</a:t>
            </a:r>
            <a:endParaRPr b="1" i="0" sz="1700" u="none" cap="none" strike="noStrike">
              <a:solidFill>
                <a:srgbClr val="202729"/>
              </a:solidFill>
              <a:latin typeface="Manrope"/>
              <a:ea typeface="Manrope"/>
              <a:cs typeface="Manrope"/>
              <a:sym typeface="Manrope"/>
            </a:endParaRPr>
          </a:p>
          <a:p>
            <a:pPr indent="-317500" lvl="0" marL="457200" marR="0" rtl="0" algn="l">
              <a:lnSpc>
                <a:spcPct val="115000"/>
              </a:lnSpc>
              <a:spcBef>
                <a:spcPts val="120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Frontend</a:t>
            </a:r>
            <a:r>
              <a:rPr b="0" i="0" lang="en" u="none" cap="none" strike="noStrike">
                <a:solidFill>
                  <a:schemeClr val="dk1"/>
                </a:solidFill>
                <a:latin typeface="Arial"/>
                <a:ea typeface="Arial"/>
                <a:cs typeface="Arial"/>
                <a:sym typeface="Arial"/>
              </a:rPr>
              <a:t>: React JS, TypeScript, Offline caching, low-bandwidth optimization.</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Backend &amp; APIs</a:t>
            </a:r>
            <a:r>
              <a:rPr b="0" i="0" lang="en" u="none" cap="none" strike="noStrike">
                <a:solidFill>
                  <a:schemeClr val="dk1"/>
                </a:solidFill>
                <a:latin typeface="Arial"/>
                <a:ea typeface="Arial"/>
                <a:cs typeface="Arial"/>
                <a:sym typeface="Arial"/>
              </a:rPr>
              <a:t>: FastAPI (Python), REST + optional GraphQL, Docker, Bedrock Agents.</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AI &amp; Machine Learning</a:t>
            </a:r>
            <a:r>
              <a:rPr b="0" i="0" lang="en" u="none" cap="none" strike="noStrike">
                <a:solidFill>
                  <a:schemeClr val="dk1"/>
                </a:solidFill>
                <a:latin typeface="Arial"/>
                <a:ea typeface="Arial"/>
                <a:cs typeface="Arial"/>
                <a:sym typeface="Arial"/>
              </a:rPr>
              <a:t>: PyTorch / TensorFlow (core open-source models), Amazon SageMaker (optional large-scale training &amp; inference), Predictive &amp; trust-ranking models.</a:t>
            </a:r>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LLM</a:t>
            </a:r>
            <a:r>
              <a:rPr b="0" i="0" lang="en" u="none" cap="none" strike="noStrike">
                <a:solidFill>
                  <a:schemeClr val="dk1"/>
                </a:solidFill>
                <a:latin typeface="Arial"/>
                <a:ea typeface="Arial"/>
                <a:cs typeface="Arial"/>
                <a:sym typeface="Arial"/>
              </a:rPr>
              <a:t>: Bedrock Multi Models(SLM and LLM) &amp; Embedding Models</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Computer Vision</a:t>
            </a:r>
            <a:r>
              <a:rPr b="0" i="0" lang="en" u="none" cap="none" strike="noStrike">
                <a:solidFill>
                  <a:schemeClr val="dk1"/>
                </a:solidFill>
                <a:latin typeface="Arial"/>
                <a:ea typeface="Arial"/>
                <a:cs typeface="Arial"/>
                <a:sym typeface="Arial"/>
              </a:rPr>
              <a:t>: OpenCV, Amazon Rekognition.</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Speech &amp; Translation: </a:t>
            </a:r>
            <a:r>
              <a:rPr b="0" i="0" lang="en" u="none" cap="none" strike="noStrike">
                <a:solidFill>
                  <a:schemeClr val="dk1"/>
                </a:solidFill>
                <a:latin typeface="Arial"/>
                <a:ea typeface="Arial"/>
                <a:cs typeface="Arial"/>
                <a:sym typeface="Arial"/>
              </a:rPr>
              <a:t>Amazon Transcribe, Amazon Polly, Amazon Translate.</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Data &amp; Storage</a:t>
            </a:r>
            <a:r>
              <a:rPr b="0" i="0" lang="en" u="none" cap="none" strike="noStrike">
                <a:solidFill>
                  <a:schemeClr val="dk1"/>
                </a:solidFill>
                <a:latin typeface="Arial"/>
                <a:ea typeface="Arial"/>
                <a:cs typeface="Arial"/>
                <a:sym typeface="Arial"/>
              </a:rPr>
              <a:t>: PostgreSQL, Amazon OpenSearch, Amazon S3 (images, documents, audio).</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Real-Time Events &amp; Messaging</a:t>
            </a:r>
            <a:r>
              <a:rPr b="0" i="0" lang="en" u="none" cap="none" strike="noStrike">
                <a:solidFill>
                  <a:schemeClr val="dk1"/>
                </a:solidFill>
                <a:latin typeface="Arial"/>
                <a:ea typeface="Arial"/>
                <a:cs typeface="Arial"/>
                <a:sym typeface="Arial"/>
              </a:rPr>
              <a:t>: Amazon EventBridge, AWS SNS, AWS SQS.</a:t>
            </a:r>
            <a:endParaRPr b="0" i="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1" i="0" lang="en" u="none" cap="none" strike="noStrike">
                <a:solidFill>
                  <a:schemeClr val="dk1"/>
                </a:solidFill>
                <a:latin typeface="Arial"/>
                <a:ea typeface="Arial"/>
                <a:cs typeface="Arial"/>
                <a:sym typeface="Arial"/>
              </a:rPr>
              <a:t>External Data Integrations</a:t>
            </a:r>
            <a:r>
              <a:rPr b="0" i="0" lang="en" u="none" cap="none" strike="noStrike">
                <a:solidFill>
                  <a:schemeClr val="dk1"/>
                </a:solidFill>
                <a:latin typeface="Arial"/>
                <a:ea typeface="Arial"/>
                <a:cs typeface="Arial"/>
                <a:sym typeface="Arial"/>
              </a:rPr>
              <a:t>: Weather APIs, market price feeds, government portals.</a:t>
            </a:r>
            <a:endParaRPr b="0" i="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700"/>
              <a:buFont typeface="Arial"/>
              <a:buNone/>
            </a:pPr>
            <a:r>
              <a:t/>
            </a:r>
            <a:endParaRPr b="1" i="0" sz="1700" u="none" cap="none" strike="noStrike">
              <a:solidFill>
                <a:srgbClr val="202729"/>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32"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47" name="Google Shape;147;p32"/>
          <p:cNvSpPr txBox="1"/>
          <p:nvPr/>
        </p:nvSpPr>
        <p:spPr>
          <a:xfrm>
            <a:off x="311700" y="863550"/>
            <a:ext cx="7531800" cy="3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600">
                <a:solidFill>
                  <a:srgbClr val="202729"/>
                </a:solidFill>
                <a:latin typeface="Manrope"/>
                <a:ea typeface="Manrope"/>
                <a:cs typeface="Manrope"/>
                <a:sym typeface="Manrope"/>
              </a:rPr>
              <a:t>Beneficiaries</a:t>
            </a:r>
            <a:endParaRPr b="1" sz="1600">
              <a:solidFill>
                <a:srgbClr val="202729"/>
              </a:solidFill>
              <a:latin typeface="Manrope"/>
              <a:ea typeface="Manrope"/>
              <a:cs typeface="Manrope"/>
              <a:sym typeface="Manrope"/>
            </a:endParaRPr>
          </a:p>
          <a:p>
            <a:pPr indent="-317500" lvl="0" marL="457200" rtl="0" algn="l">
              <a:lnSpc>
                <a:spcPct val="115000"/>
              </a:lnSpc>
              <a:spcBef>
                <a:spcPts val="1200"/>
              </a:spcBef>
              <a:spcAft>
                <a:spcPts val="0"/>
              </a:spcAft>
              <a:buClr>
                <a:srgbClr val="202729"/>
              </a:buClr>
              <a:buSzPts val="1400"/>
              <a:buChar char="●"/>
            </a:pPr>
            <a:r>
              <a:rPr lang="en">
                <a:solidFill>
                  <a:srgbClr val="202729"/>
                </a:solidFill>
              </a:rPr>
              <a:t>Primary Beneficiaries</a:t>
            </a:r>
            <a:endParaRPr>
              <a:solidFill>
                <a:srgbClr val="202729"/>
              </a:solidFill>
            </a:endParaRPr>
          </a:p>
          <a:p>
            <a:pPr indent="-317500" lvl="1" marL="1371600" rtl="0" algn="l">
              <a:lnSpc>
                <a:spcPct val="115000"/>
              </a:lnSpc>
              <a:spcBef>
                <a:spcPts val="0"/>
              </a:spcBef>
              <a:spcAft>
                <a:spcPts val="0"/>
              </a:spcAft>
              <a:buClr>
                <a:srgbClr val="202729"/>
              </a:buClr>
              <a:buSzPts val="1400"/>
              <a:buChar char="○"/>
            </a:pPr>
            <a:r>
              <a:rPr lang="en">
                <a:solidFill>
                  <a:srgbClr val="202729"/>
                </a:solidFill>
              </a:rPr>
              <a:t>Farmers: Higher income, reduced risk, better decision-making, and easier access to markets and schemes.</a:t>
            </a:r>
            <a:endParaRPr>
              <a:solidFill>
                <a:srgbClr val="202729"/>
              </a:solidFill>
            </a:endParaRPr>
          </a:p>
          <a:p>
            <a:pPr indent="-317500" lvl="1" marL="1371600" rtl="0" algn="l">
              <a:lnSpc>
                <a:spcPct val="115000"/>
              </a:lnSpc>
              <a:spcBef>
                <a:spcPts val="0"/>
              </a:spcBef>
              <a:spcAft>
                <a:spcPts val="0"/>
              </a:spcAft>
              <a:buClr>
                <a:srgbClr val="202729"/>
              </a:buClr>
              <a:buSzPts val="1400"/>
              <a:buChar char="○"/>
            </a:pPr>
            <a:r>
              <a:rPr lang="en">
                <a:solidFill>
                  <a:srgbClr val="202729"/>
                </a:solidFill>
              </a:rPr>
              <a:t>Buyers/Suppliers: Verified sourcing, reduced fraud, faster procurement, and transparent pricing.</a:t>
            </a:r>
            <a:endParaRPr>
              <a:solidFill>
                <a:srgbClr val="202729"/>
              </a:solidFill>
            </a:endParaRPr>
          </a:p>
          <a:p>
            <a:pPr indent="-317500" lvl="0" marL="457200" rtl="0" algn="l">
              <a:lnSpc>
                <a:spcPct val="115000"/>
              </a:lnSpc>
              <a:spcBef>
                <a:spcPts val="0"/>
              </a:spcBef>
              <a:spcAft>
                <a:spcPts val="0"/>
              </a:spcAft>
              <a:buClr>
                <a:srgbClr val="202729"/>
              </a:buClr>
              <a:buSzPts val="1400"/>
              <a:buChar char="●"/>
            </a:pPr>
            <a:r>
              <a:rPr lang="en">
                <a:solidFill>
                  <a:srgbClr val="202729"/>
                </a:solidFill>
              </a:rPr>
              <a:t>Secondary Beneficiaries</a:t>
            </a:r>
            <a:endParaRPr>
              <a:solidFill>
                <a:srgbClr val="202729"/>
              </a:solidFill>
            </a:endParaRPr>
          </a:p>
          <a:p>
            <a:pPr indent="-317500" lvl="0" marL="1371600" rtl="0" algn="l">
              <a:lnSpc>
                <a:spcPct val="115000"/>
              </a:lnSpc>
              <a:spcBef>
                <a:spcPts val="0"/>
              </a:spcBef>
              <a:spcAft>
                <a:spcPts val="0"/>
              </a:spcAft>
              <a:buClr>
                <a:srgbClr val="202729"/>
              </a:buClr>
              <a:buSzPts val="1400"/>
              <a:buChar char="●"/>
            </a:pPr>
            <a:r>
              <a:rPr lang="en">
                <a:solidFill>
                  <a:srgbClr val="202729"/>
                </a:solidFill>
              </a:rPr>
              <a:t>Government &amp; Institutions: Higher scheme adoption, better data visibility, reduced leakage.</a:t>
            </a:r>
            <a:endParaRPr>
              <a:solidFill>
                <a:srgbClr val="202729"/>
              </a:solidFill>
            </a:endParaRPr>
          </a:p>
          <a:p>
            <a:pPr indent="-317500" lvl="0" marL="1371600" rtl="0" algn="l">
              <a:lnSpc>
                <a:spcPct val="115000"/>
              </a:lnSpc>
              <a:spcBef>
                <a:spcPts val="0"/>
              </a:spcBef>
              <a:spcAft>
                <a:spcPts val="0"/>
              </a:spcAft>
              <a:buClr>
                <a:srgbClr val="202729"/>
              </a:buClr>
              <a:buSzPts val="1400"/>
              <a:buChar char="●"/>
            </a:pPr>
            <a:r>
              <a:rPr lang="en">
                <a:solidFill>
                  <a:srgbClr val="202729"/>
                </a:solidFill>
              </a:rPr>
              <a:t>Rural Ecosystem: Stronger local markets, improved food supply stability, and inclusive growth.</a:t>
            </a:r>
            <a:endParaRPr>
              <a:solidFill>
                <a:srgbClr val="202729"/>
              </a:solidFill>
            </a:endParaRPr>
          </a:p>
          <a:p>
            <a:pPr indent="0" lvl="0" marL="0" rtl="0" algn="l">
              <a:lnSpc>
                <a:spcPct val="115000"/>
              </a:lnSpc>
              <a:spcBef>
                <a:spcPts val="1200"/>
              </a:spcBef>
              <a:spcAft>
                <a:spcPts val="0"/>
              </a:spcAft>
              <a:buNone/>
            </a:pPr>
            <a:r>
              <a:t/>
            </a:r>
            <a:endParaRPr>
              <a:solidFill>
                <a:srgbClr val="202729"/>
              </a:solidFill>
            </a:endParaRPr>
          </a:p>
          <a:p>
            <a:pPr indent="0" lvl="0" marL="457200" marR="0" rtl="0" algn="l">
              <a:lnSpc>
                <a:spcPct val="115000"/>
              </a:lnSpc>
              <a:spcBef>
                <a:spcPts val="1200"/>
              </a:spcBef>
              <a:spcAft>
                <a:spcPts val="1200"/>
              </a:spcAft>
              <a:buClr>
                <a:srgbClr val="000000"/>
              </a:buClr>
              <a:buSzPts val="1700"/>
              <a:buFont typeface="Arial"/>
              <a:buNone/>
            </a:pPr>
            <a:r>
              <a:t/>
            </a:r>
            <a:endParaRPr b="1" sz="1700">
              <a:solidFill>
                <a:srgbClr val="202729"/>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3"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