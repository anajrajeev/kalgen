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embeddedFontLst>
    <p:embeddedFont>
      <p:font typeface="Manrope SemiBold"/>
      <p:regular r:id="rId14"/>
      <p:bold r:id="rId15"/>
    </p:embeddedFont>
    <p:embeddedFont>
      <p:font typeface="Manrope"/>
      <p:regular r:id="rId16"/>
      <p:bold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ManropeSemiBold-bold.fntdata"/><Relationship Id="rId14" Type="http://schemas.openxmlformats.org/officeDocument/2006/relationships/font" Target="fonts/ManropeSemiBold-regular.fntdata"/><Relationship Id="rId17" Type="http://schemas.openxmlformats.org/officeDocument/2006/relationships/font" Target="fonts/Manrope-bold.fntdata"/><Relationship Id="rId16" Type="http://schemas.openxmlformats.org/officeDocument/2006/relationships/font" Target="fonts/Manrope-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 name="Google Shape;6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 name="Google Shape;6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 name="Google Shape;73;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9" name="Google Shape;79;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 name="Google Shape;86;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 name="Google Shape;93;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9" name="Google Shape;99;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 name="Shape 9"/>
        <p:cNvGrpSpPr/>
        <p:nvPr/>
      </p:nvGrpSpPr>
      <p:grpSpPr>
        <a:xfrm>
          <a:off x="0" y="0"/>
          <a:ext cx="0" cy="0"/>
          <a:chOff x="0" y="0"/>
          <a:chExt cx="0" cy="0"/>
        </a:xfrm>
      </p:grpSpPr>
      <p:sp>
        <p:nvSpPr>
          <p:cNvPr id="10" name="Google Shape;10;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3"/>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3" name="Google Shape;13;p3"/>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4" name="Google Shape;14;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4"/>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7" name="Google Shape;17;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0" name="Google Shape;20;p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1" name="Google Shape;21;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 name="Google Shape;24;p6"/>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5" name="Google Shape;25;p6"/>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6" name="Google Shape;26;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9" name="Google Shape;29;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8"/>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2" name="Google Shape;32;p8"/>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3" name="Google Shape;33;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4" name="Shape 34"/>
        <p:cNvGrpSpPr/>
        <p:nvPr/>
      </p:nvGrpSpPr>
      <p:grpSpPr>
        <a:xfrm>
          <a:off x="0" y="0"/>
          <a:ext cx="0" cy="0"/>
          <a:chOff x="0" y="0"/>
          <a:chExt cx="0" cy="0"/>
        </a:xfrm>
      </p:grpSpPr>
      <p:sp>
        <p:nvSpPr>
          <p:cNvPr id="35" name="Google Shape;35;p9"/>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6" name="Google Shape;36;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1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10"/>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0" name="Google Shape;40;p10"/>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1" name="Google Shape;41;p10"/>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2" name="Google Shape;42;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1"/>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5" name="Google Shape;45;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12"/>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8" name="Google Shape;48;p12"/>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9" name="Google Shape;49;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title="Artscfghgboard – 5.png"/>
          <p:cNvPicPr preferRelativeResize="0"/>
          <p:nvPr/>
        </p:nvPicPr>
        <p:blipFill rotWithShape="1">
          <a:blip r:embed="rId3">
            <a:alphaModFix/>
          </a:blip>
          <a:srcRect b="0" l="0" r="0" t="0"/>
          <a:stretch/>
        </p:blipFill>
        <p:spPr>
          <a:xfrm>
            <a:off x="0" y="0"/>
            <a:ext cx="9144018" cy="5143501"/>
          </a:xfrm>
          <a:prstGeom prst="rect">
            <a:avLst/>
          </a:prstGeom>
          <a:noFill/>
          <a:ln>
            <a:noFill/>
          </a:ln>
        </p:spPr>
      </p:pic>
      <p:sp>
        <p:nvSpPr>
          <p:cNvPr id="55" name="Google Shape;55;p13"/>
          <p:cNvSpPr txBox="1"/>
          <p:nvPr/>
        </p:nvSpPr>
        <p:spPr>
          <a:xfrm>
            <a:off x="383675" y="3446998"/>
            <a:ext cx="8520600" cy="443700"/>
          </a:xfrm>
          <a:prstGeom prst="rect">
            <a:avLst/>
          </a:prstGeom>
          <a:noFill/>
          <a:ln>
            <a:noFill/>
          </a:ln>
        </p:spPr>
        <p:txBody>
          <a:bodyPr anchorCtr="0" anchor="t" bIns="91425" lIns="91425" spcFirstLastPara="1" rIns="91425" wrap="square" tIns="91425">
            <a:normAutofit/>
          </a:bodyPr>
          <a:lstStyle/>
          <a:p>
            <a:pPr indent="0" lvl="0" marL="0" marR="0" rtl="0" algn="l">
              <a:lnSpc>
                <a:spcPct val="80000"/>
              </a:lnSpc>
              <a:spcBef>
                <a:spcPts val="0"/>
              </a:spcBef>
              <a:spcAft>
                <a:spcPts val="0"/>
              </a:spcAft>
              <a:buClr>
                <a:srgbClr val="000000"/>
              </a:buClr>
              <a:buSzPts val="1600"/>
              <a:buFont typeface="Arial"/>
              <a:buNone/>
            </a:pPr>
            <a:r>
              <a:rPr b="0" i="0" lang="en-GB" sz="1600" u="none" cap="none" strike="noStrike">
                <a:solidFill>
                  <a:srgbClr val="202729"/>
                </a:solidFill>
                <a:latin typeface="Manrope SemiBold"/>
                <a:ea typeface="Manrope SemiBold"/>
                <a:cs typeface="Manrope SemiBold"/>
                <a:sym typeface="Manrope SemiBold"/>
              </a:rPr>
              <a:t>Team Name : </a:t>
            </a:r>
            <a:r>
              <a:rPr lang="en-GB" sz="1600">
                <a:solidFill>
                  <a:srgbClr val="202729"/>
                </a:solidFill>
                <a:latin typeface="Manrope SemiBold"/>
                <a:ea typeface="Manrope SemiBold"/>
                <a:cs typeface="Manrope SemiBold"/>
                <a:sym typeface="Manrope SemiBold"/>
              </a:rPr>
              <a:t>Kalgen</a:t>
            </a:r>
            <a:endParaRPr b="0" i="0" sz="1600" u="none" cap="none" strike="noStrike">
              <a:solidFill>
                <a:srgbClr val="202729"/>
              </a:solidFill>
              <a:latin typeface="Manrope SemiBold"/>
              <a:ea typeface="Manrope SemiBold"/>
              <a:cs typeface="Manrope SemiBold"/>
              <a:sym typeface="Manrope SemiBold"/>
            </a:endParaRPr>
          </a:p>
        </p:txBody>
      </p:sp>
      <p:sp>
        <p:nvSpPr>
          <p:cNvPr id="56" name="Google Shape;56;p13"/>
          <p:cNvSpPr txBox="1"/>
          <p:nvPr/>
        </p:nvSpPr>
        <p:spPr>
          <a:xfrm>
            <a:off x="383675" y="4298150"/>
            <a:ext cx="8173200" cy="603300"/>
          </a:xfrm>
          <a:prstGeom prst="rect">
            <a:avLst/>
          </a:prstGeom>
          <a:noFill/>
          <a:ln>
            <a:noFill/>
          </a:ln>
        </p:spPr>
        <p:txBody>
          <a:bodyPr anchorCtr="0" anchor="t" bIns="91425" lIns="91425" spcFirstLastPara="1" rIns="91425" wrap="square" tIns="91425">
            <a:normAutofit fontScale="92500" lnSpcReduction="10000"/>
          </a:bodyPr>
          <a:lstStyle/>
          <a:p>
            <a:pPr indent="0" lvl="0" marL="0" marR="0" rtl="0" algn="l">
              <a:lnSpc>
                <a:spcPct val="70000"/>
              </a:lnSpc>
              <a:spcBef>
                <a:spcPts val="0"/>
              </a:spcBef>
              <a:spcAft>
                <a:spcPts val="0"/>
              </a:spcAft>
              <a:buClr>
                <a:srgbClr val="000000"/>
              </a:buClr>
              <a:buSzPct val="100000"/>
              <a:buFont typeface="Arial"/>
              <a:buNone/>
            </a:pPr>
            <a:r>
              <a:rPr b="0" i="0" lang="en-GB" sz="1600" u="none" cap="none" strike="noStrike">
                <a:solidFill>
                  <a:srgbClr val="202729"/>
                </a:solidFill>
                <a:latin typeface="Manrope SemiBold"/>
                <a:ea typeface="Manrope SemiBold"/>
                <a:cs typeface="Manrope SemiBold"/>
                <a:sym typeface="Manrope SemiBold"/>
              </a:rPr>
              <a:t>Problem Statement :</a:t>
            </a:r>
            <a:r>
              <a:rPr lang="en-GB" sz="1600">
                <a:solidFill>
                  <a:srgbClr val="202729"/>
                </a:solidFill>
                <a:latin typeface="Manrope SemiBold"/>
                <a:ea typeface="Manrope SemiBold"/>
                <a:cs typeface="Manrope SemiBold"/>
                <a:sym typeface="Manrope SemiBold"/>
              </a:rPr>
              <a:t> </a:t>
            </a:r>
            <a:r>
              <a:rPr b="0" i="0" lang="en-GB" sz="1600" u="none" cap="none" strike="noStrike">
                <a:solidFill>
                  <a:srgbClr val="202729"/>
                </a:solidFill>
                <a:latin typeface="Manrope SemiBold"/>
                <a:ea typeface="Manrope SemiBold"/>
                <a:cs typeface="Manrope SemiBold"/>
                <a:sym typeface="Manrope SemiBold"/>
              </a:rPr>
              <a:t>Indian farmers suffer income loss and crop risk due to fragmented information, language barriers, lack of trusted market access, and middlemen dominance, preventing timely decisions, fair pricing, and effective use of government support.</a:t>
            </a:r>
            <a:endParaRPr b="0" i="0" sz="1600" u="none" cap="none" strike="noStrike">
              <a:solidFill>
                <a:srgbClr val="202729"/>
              </a:solidFill>
              <a:latin typeface="Manrope SemiBold"/>
              <a:ea typeface="Manrope SemiBold"/>
              <a:cs typeface="Manrope SemiBold"/>
              <a:sym typeface="Manrope SemiBold"/>
            </a:endParaRPr>
          </a:p>
        </p:txBody>
      </p:sp>
      <p:sp>
        <p:nvSpPr>
          <p:cNvPr id="57" name="Google Shape;57;p13"/>
          <p:cNvSpPr txBox="1"/>
          <p:nvPr/>
        </p:nvSpPr>
        <p:spPr>
          <a:xfrm>
            <a:off x="383663" y="3854458"/>
            <a:ext cx="8520600" cy="443700"/>
          </a:xfrm>
          <a:prstGeom prst="rect">
            <a:avLst/>
          </a:prstGeom>
          <a:noFill/>
          <a:ln>
            <a:noFill/>
          </a:ln>
        </p:spPr>
        <p:txBody>
          <a:bodyPr anchorCtr="0" anchor="t" bIns="91425" lIns="91425" spcFirstLastPara="1" rIns="91425" wrap="square" tIns="91425">
            <a:normAutofit/>
          </a:bodyPr>
          <a:lstStyle/>
          <a:p>
            <a:pPr indent="0" lvl="0" marL="0" marR="0" rtl="0" algn="l">
              <a:lnSpc>
                <a:spcPct val="80000"/>
              </a:lnSpc>
              <a:spcBef>
                <a:spcPts val="0"/>
              </a:spcBef>
              <a:spcAft>
                <a:spcPts val="0"/>
              </a:spcAft>
              <a:buClr>
                <a:srgbClr val="000000"/>
              </a:buClr>
              <a:buSzPts val="1600"/>
              <a:buFont typeface="Arial"/>
              <a:buNone/>
            </a:pPr>
            <a:r>
              <a:rPr b="0" i="0" lang="en-GB" sz="1600" u="none" cap="none" strike="noStrike">
                <a:solidFill>
                  <a:srgbClr val="202729"/>
                </a:solidFill>
                <a:latin typeface="Manrope SemiBold"/>
                <a:ea typeface="Manrope SemiBold"/>
                <a:cs typeface="Manrope SemiBold"/>
                <a:sym typeface="Manrope SemiBold"/>
              </a:rPr>
              <a:t>Team Leader Name : Anaj Rajee</a:t>
            </a:r>
            <a:r>
              <a:rPr lang="en-GB" sz="1600">
                <a:solidFill>
                  <a:srgbClr val="202729"/>
                </a:solidFill>
                <a:latin typeface="Manrope SemiBold"/>
                <a:ea typeface="Manrope SemiBold"/>
                <a:cs typeface="Manrope SemiBold"/>
                <a:sym typeface="Manrope SemiBold"/>
              </a:rPr>
              <a:t>v</a:t>
            </a:r>
            <a:endParaRPr sz="1600">
              <a:solidFill>
                <a:srgbClr val="202729"/>
              </a:solidFill>
              <a:latin typeface="Manrope SemiBold"/>
              <a:ea typeface="Manrope SemiBold"/>
              <a:cs typeface="Manrope SemiBold"/>
              <a:sym typeface="Manrope SemiBo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pic>
        <p:nvPicPr>
          <p:cNvPr id="62" name="Google Shape;62;p14" title="Artboarddfghjk – 6.png"/>
          <p:cNvPicPr preferRelativeResize="0"/>
          <p:nvPr/>
        </p:nvPicPr>
        <p:blipFill rotWithShape="1">
          <a:blip r:embed="rId3">
            <a:alphaModFix/>
          </a:blip>
          <a:srcRect b="0" l="0" r="0" t="0"/>
          <a:stretch/>
        </p:blipFill>
        <p:spPr>
          <a:xfrm>
            <a:off x="-12" y="0"/>
            <a:ext cx="9144018" cy="5143501"/>
          </a:xfrm>
          <a:prstGeom prst="rect">
            <a:avLst/>
          </a:prstGeom>
          <a:noFill/>
          <a:ln>
            <a:noFill/>
          </a:ln>
        </p:spPr>
      </p:pic>
      <p:sp>
        <p:nvSpPr>
          <p:cNvPr id="63" name="Google Shape;63;p14"/>
          <p:cNvSpPr txBox="1"/>
          <p:nvPr/>
        </p:nvSpPr>
        <p:spPr>
          <a:xfrm>
            <a:off x="332550" y="643925"/>
            <a:ext cx="2403000" cy="465900"/>
          </a:xfrm>
          <a:prstGeom prst="rect">
            <a:avLst/>
          </a:prstGeom>
          <a:noFill/>
          <a:ln>
            <a:noFill/>
          </a:ln>
        </p:spPr>
        <p:txBody>
          <a:bodyPr anchorCtr="0" anchor="t" bIns="91425" lIns="91425" spcFirstLastPara="1" rIns="91425" wrap="square" tIns="91425">
            <a:normAutofit/>
          </a:bodyPr>
          <a:lstStyle/>
          <a:p>
            <a:pPr indent="0" lvl="0" marL="0" marR="0" rtl="0" algn="l">
              <a:lnSpc>
                <a:spcPct val="115000"/>
              </a:lnSpc>
              <a:spcBef>
                <a:spcPts val="0"/>
              </a:spcBef>
              <a:spcAft>
                <a:spcPts val="1200"/>
              </a:spcAft>
              <a:buClr>
                <a:srgbClr val="000000"/>
              </a:buClr>
              <a:buSzPts val="935"/>
              <a:buFont typeface="Arial"/>
              <a:buNone/>
            </a:pPr>
            <a:r>
              <a:rPr b="1" i="0" lang="en-GB" sz="1700" u="none" cap="none" strike="noStrike">
                <a:solidFill>
                  <a:srgbClr val="202729"/>
                </a:solidFill>
                <a:latin typeface="Manrope"/>
                <a:ea typeface="Manrope"/>
                <a:cs typeface="Manrope"/>
                <a:sym typeface="Manrope"/>
              </a:rPr>
              <a:t>Brief about the Idea:</a:t>
            </a:r>
            <a:endParaRPr b="1" i="0" sz="1700" u="none" cap="none" strike="noStrike">
              <a:solidFill>
                <a:srgbClr val="202729"/>
              </a:solidFill>
              <a:latin typeface="Manrope"/>
              <a:ea typeface="Manrope"/>
              <a:cs typeface="Manrope"/>
              <a:sym typeface="Manrope"/>
            </a:endParaRPr>
          </a:p>
        </p:txBody>
      </p:sp>
      <p:sp>
        <p:nvSpPr>
          <p:cNvPr id="64" name="Google Shape;64;p14"/>
          <p:cNvSpPr txBox="1"/>
          <p:nvPr/>
        </p:nvSpPr>
        <p:spPr>
          <a:xfrm>
            <a:off x="332550" y="1109825"/>
            <a:ext cx="8811600" cy="4237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This solution is a unified AI-powered agricultural platform that enables farmers to make better farming decisions and sell their produce at fair prices through a single, simple system. Farmers interact using voice, text, or images in their local language, ensuring accessibility even for low-literacy users.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The platform provides real-time AI advisory including crop and soil analysis, disease detection, weather and yield forecasting, risk alerts, and simplified guidance on government schemes and subsidies. Trust and fairness in trade are ensured through an AI-driven re-ranking engine that continuously evaluates farmers and buyers using transaction history, GST verification, image-based validation, proximity, and behavioral signals.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Real-time multilingual translation enables direct negotiation between farmers and buyers across regions without language barriers, eliminating middlemen and enabling transparent price discovery. The system continuously learns from outcomes to improve predictions and rankings over time.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By combining predictive advisory, trusted buyer–seller matching, transparent pricing, and logistics intelligence into a cloud-native, scalable ecosystem, the platform improves farmer income by 30–40%, reduces crop loss and fraud, and enables sustainable, borderless rural commerce.</a:t>
            </a:r>
            <a:endParaRPr>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pic>
        <p:nvPicPr>
          <p:cNvPr id="69" name="Google Shape;69;p15" title="Artboarddfghjk – 6.png"/>
          <p:cNvPicPr preferRelativeResize="0"/>
          <p:nvPr/>
        </p:nvPicPr>
        <p:blipFill rotWithShape="1">
          <a:blip r:embed="rId3">
            <a:alphaModFix/>
          </a:blip>
          <a:srcRect b="0" l="0" r="0" t="0"/>
          <a:stretch/>
        </p:blipFill>
        <p:spPr>
          <a:xfrm>
            <a:off x="0" y="0"/>
            <a:ext cx="9144018" cy="5143501"/>
          </a:xfrm>
          <a:prstGeom prst="rect">
            <a:avLst/>
          </a:prstGeom>
          <a:noFill/>
          <a:ln>
            <a:noFill/>
          </a:ln>
        </p:spPr>
      </p:pic>
      <p:sp>
        <p:nvSpPr>
          <p:cNvPr id="70" name="Google Shape;70;p15"/>
          <p:cNvSpPr txBox="1"/>
          <p:nvPr/>
        </p:nvSpPr>
        <p:spPr>
          <a:xfrm>
            <a:off x="311700" y="863550"/>
            <a:ext cx="7676400" cy="3812400"/>
          </a:xfrm>
          <a:prstGeom prst="rect">
            <a:avLst/>
          </a:prstGeom>
          <a:noFill/>
          <a:ln>
            <a:noFill/>
          </a:ln>
        </p:spPr>
        <p:txBody>
          <a:bodyPr anchorCtr="0" anchor="t" bIns="91425" lIns="91425" spcFirstLastPara="1" rIns="91425" wrap="square" tIns="91425">
            <a:normAutofit fontScale="92500" lnSpcReduction="20000"/>
          </a:bodyPr>
          <a:lstStyle/>
          <a:p>
            <a:pPr indent="0" lvl="0" marL="0" marR="0" rtl="0" algn="l">
              <a:lnSpc>
                <a:spcPct val="115000"/>
              </a:lnSpc>
              <a:spcBef>
                <a:spcPts val="0"/>
              </a:spcBef>
              <a:spcAft>
                <a:spcPts val="0"/>
              </a:spcAft>
              <a:buClr>
                <a:srgbClr val="000000"/>
              </a:buClr>
              <a:buSzPct val="55000"/>
              <a:buFont typeface="Arial"/>
              <a:buNone/>
            </a:pPr>
            <a:r>
              <a:rPr b="1" lang="en-GB" sz="1700">
                <a:solidFill>
                  <a:srgbClr val="202729"/>
                </a:solidFill>
                <a:latin typeface="Manrope"/>
                <a:ea typeface="Manrope"/>
                <a:cs typeface="Manrope"/>
                <a:sym typeface="Manrope"/>
              </a:rPr>
              <a:t>Solution ex</a:t>
            </a:r>
            <a:r>
              <a:rPr b="1" i="0" lang="en-GB" sz="1700" u="none" cap="none" strike="noStrike">
                <a:solidFill>
                  <a:srgbClr val="202729"/>
                </a:solidFill>
                <a:latin typeface="Manrope"/>
                <a:ea typeface="Manrope"/>
                <a:cs typeface="Manrope"/>
                <a:sym typeface="Manrope"/>
              </a:rPr>
              <a:t>plained</a:t>
            </a:r>
            <a:endParaRPr b="1" i="0" sz="1700" u="none" cap="none" strike="noStrike">
              <a:solidFill>
                <a:srgbClr val="202729"/>
              </a:solidFill>
              <a:latin typeface="Manrope"/>
              <a:ea typeface="Manrope"/>
              <a:cs typeface="Manrope"/>
              <a:sym typeface="Manrope"/>
            </a:endParaRPr>
          </a:p>
          <a:p>
            <a:pPr indent="-322580" lvl="0" marL="457200" marR="0" rtl="0" algn="l">
              <a:lnSpc>
                <a:spcPct val="115000"/>
              </a:lnSpc>
              <a:spcBef>
                <a:spcPts val="1200"/>
              </a:spcBef>
              <a:spcAft>
                <a:spcPts val="0"/>
              </a:spcAft>
              <a:buClr>
                <a:srgbClr val="202729"/>
              </a:buClr>
              <a:buSzPct val="100000"/>
              <a:buFont typeface="Manrope SemiBold"/>
              <a:buChar char="●"/>
            </a:pPr>
            <a:r>
              <a:rPr b="0" i="0" lang="en-GB" sz="1600" u="none" cap="none" strike="noStrike">
                <a:solidFill>
                  <a:srgbClr val="202729"/>
                </a:solidFill>
                <a:latin typeface="Manrope SemiBold"/>
                <a:ea typeface="Manrope SemiBold"/>
                <a:cs typeface="Manrope SemiBold"/>
                <a:sym typeface="Manrope SemiBold"/>
              </a:rPr>
              <a:t>How different is it from any of the other existing ideas?</a:t>
            </a:r>
            <a:endParaRPr sz="1100">
              <a:solidFill>
                <a:schemeClr val="dk1"/>
              </a:solidFill>
            </a:endParaRPr>
          </a:p>
          <a:p>
            <a:pPr indent="-293211" lvl="0" marL="457200" marR="0" rtl="0" algn="l">
              <a:lnSpc>
                <a:spcPct val="115000"/>
              </a:lnSpc>
              <a:spcBef>
                <a:spcPts val="0"/>
              </a:spcBef>
              <a:spcAft>
                <a:spcPts val="0"/>
              </a:spcAft>
              <a:buClr>
                <a:schemeClr val="dk1"/>
              </a:buClr>
              <a:buSzPct val="100000"/>
              <a:buChar char="●"/>
            </a:pPr>
            <a:r>
              <a:rPr lang="en-GB" sz="1100">
                <a:solidFill>
                  <a:schemeClr val="dk1"/>
                </a:solidFill>
              </a:rPr>
              <a:t>Existing platforms solve </a:t>
            </a:r>
            <a:r>
              <a:rPr b="1" lang="en-GB" sz="1100">
                <a:solidFill>
                  <a:schemeClr val="dk1"/>
                </a:solidFill>
              </a:rPr>
              <a:t>either advisory or marketplace</a:t>
            </a:r>
            <a:r>
              <a:rPr lang="en-GB" sz="1100">
                <a:solidFill>
                  <a:schemeClr val="dk1"/>
                </a:solidFill>
              </a:rPr>
              <a:t>, this integrates </a:t>
            </a:r>
            <a:r>
              <a:rPr b="1" lang="en-GB" sz="1100">
                <a:solidFill>
                  <a:schemeClr val="dk1"/>
                </a:solidFill>
              </a:rPr>
              <a:t>both decision-making and selling</a:t>
            </a:r>
            <a:r>
              <a:rPr lang="en-GB" sz="1100">
                <a:solidFill>
                  <a:schemeClr val="dk1"/>
                </a:solidFill>
              </a:rPr>
              <a:t> in one system.</a:t>
            </a:r>
            <a:endParaRPr sz="1100">
              <a:solidFill>
                <a:schemeClr val="dk1"/>
              </a:solidFill>
            </a:endParaRPr>
          </a:p>
          <a:p>
            <a:pPr indent="-293211" lvl="0" marL="457200" rtl="0" algn="l">
              <a:lnSpc>
                <a:spcPct val="115000"/>
              </a:lnSpc>
              <a:spcBef>
                <a:spcPts val="0"/>
              </a:spcBef>
              <a:spcAft>
                <a:spcPts val="0"/>
              </a:spcAft>
              <a:buClr>
                <a:schemeClr val="dk1"/>
              </a:buClr>
              <a:buSzPct val="100000"/>
              <a:buChar char="●"/>
            </a:pPr>
            <a:r>
              <a:rPr lang="en-GB" sz="1100">
                <a:solidFill>
                  <a:schemeClr val="dk1"/>
                </a:solidFill>
              </a:rPr>
              <a:t>Unlike text-heavy apps, it is </a:t>
            </a:r>
            <a:r>
              <a:rPr b="1" lang="en-GB" sz="1100">
                <a:solidFill>
                  <a:schemeClr val="dk1"/>
                </a:solidFill>
              </a:rPr>
              <a:t>voice-first, image-enabled, and real-time multilingual</a:t>
            </a:r>
            <a:r>
              <a:rPr lang="en-GB" sz="1100">
                <a:solidFill>
                  <a:schemeClr val="dk1"/>
                </a:solidFill>
              </a:rPr>
              <a:t>, built for low-literacy users.</a:t>
            </a:r>
            <a:endParaRPr sz="1100">
              <a:solidFill>
                <a:schemeClr val="dk1"/>
              </a:solidFill>
            </a:endParaRPr>
          </a:p>
          <a:p>
            <a:pPr indent="-293211" lvl="0" marL="457200" rtl="0" algn="l">
              <a:lnSpc>
                <a:spcPct val="115000"/>
              </a:lnSpc>
              <a:spcBef>
                <a:spcPts val="0"/>
              </a:spcBef>
              <a:spcAft>
                <a:spcPts val="0"/>
              </a:spcAft>
              <a:buClr>
                <a:schemeClr val="dk1"/>
              </a:buClr>
              <a:buSzPct val="100000"/>
              <a:buChar char="●"/>
            </a:pPr>
            <a:r>
              <a:rPr lang="en-GB" sz="1100">
                <a:solidFill>
                  <a:schemeClr val="dk1"/>
                </a:solidFill>
              </a:rPr>
              <a:t>It replaces blind matchmaking with </a:t>
            </a:r>
            <a:r>
              <a:rPr b="1" lang="en-GB" sz="1100">
                <a:solidFill>
                  <a:schemeClr val="dk1"/>
                </a:solidFill>
              </a:rPr>
              <a:t>AI-based trust ranking, verification, and price intelligence</a:t>
            </a:r>
            <a:r>
              <a:rPr lang="en-GB" sz="1100">
                <a:solidFill>
                  <a:schemeClr val="dk1"/>
                </a:solidFill>
              </a:rPr>
              <a:t>.</a:t>
            </a:r>
            <a:endParaRPr sz="1100">
              <a:solidFill>
                <a:schemeClr val="dk1"/>
              </a:solidFill>
            </a:endParaRPr>
          </a:p>
          <a:p>
            <a:pPr indent="0" lvl="0" marL="457200" rtl="0" algn="l">
              <a:lnSpc>
                <a:spcPct val="115000"/>
              </a:lnSpc>
              <a:spcBef>
                <a:spcPts val="1200"/>
              </a:spcBef>
              <a:spcAft>
                <a:spcPts val="0"/>
              </a:spcAft>
              <a:buNone/>
            </a:pPr>
            <a:r>
              <a:t/>
            </a:r>
            <a:endParaRPr sz="1100">
              <a:solidFill>
                <a:schemeClr val="dk1"/>
              </a:solidFill>
            </a:endParaRPr>
          </a:p>
          <a:p>
            <a:pPr indent="-322580" lvl="0" marL="457200" marR="0" rtl="0" algn="l">
              <a:lnSpc>
                <a:spcPct val="115000"/>
              </a:lnSpc>
              <a:spcBef>
                <a:spcPts val="1200"/>
              </a:spcBef>
              <a:spcAft>
                <a:spcPts val="0"/>
              </a:spcAft>
              <a:buClr>
                <a:srgbClr val="202729"/>
              </a:buClr>
              <a:buSzPct val="100000"/>
              <a:buFont typeface="Manrope SemiBold"/>
              <a:buChar char="●"/>
            </a:pPr>
            <a:r>
              <a:rPr b="0" i="0" lang="en-GB" sz="1600" u="none" cap="none" strike="noStrike">
                <a:solidFill>
                  <a:srgbClr val="202729"/>
                </a:solidFill>
                <a:latin typeface="Manrope SemiBold"/>
                <a:ea typeface="Manrope SemiBold"/>
                <a:cs typeface="Manrope SemiBold"/>
                <a:sym typeface="Manrope SemiBold"/>
              </a:rPr>
              <a:t>How will it be able to solve the problem?</a:t>
            </a:r>
            <a:endParaRPr b="0" i="0" sz="1600" u="none" cap="none" strike="noStrike">
              <a:solidFill>
                <a:srgbClr val="202729"/>
              </a:solidFill>
              <a:latin typeface="Manrope SemiBold"/>
              <a:ea typeface="Manrope SemiBold"/>
              <a:cs typeface="Manrope SemiBold"/>
              <a:sym typeface="Manrope SemiBold"/>
            </a:endParaRPr>
          </a:p>
          <a:p>
            <a:pPr indent="-293211" lvl="0" marL="457200" rtl="0" algn="l">
              <a:lnSpc>
                <a:spcPct val="115000"/>
              </a:lnSpc>
              <a:spcBef>
                <a:spcPts val="0"/>
              </a:spcBef>
              <a:spcAft>
                <a:spcPts val="0"/>
              </a:spcAft>
              <a:buClr>
                <a:schemeClr val="dk1"/>
              </a:buClr>
              <a:buSzPct val="100000"/>
              <a:buChar char="●"/>
            </a:pPr>
            <a:r>
              <a:rPr lang="en-GB" sz="1100">
                <a:solidFill>
                  <a:schemeClr val="dk1"/>
                </a:solidFill>
              </a:rPr>
              <a:t>Farmers receive </a:t>
            </a:r>
            <a:r>
              <a:rPr b="1" lang="en-GB" sz="1100">
                <a:solidFill>
                  <a:schemeClr val="dk1"/>
                </a:solidFill>
              </a:rPr>
              <a:t>predictive, personalized guidance</a:t>
            </a:r>
            <a:r>
              <a:rPr lang="en-GB" sz="1100">
                <a:solidFill>
                  <a:schemeClr val="dk1"/>
                </a:solidFill>
              </a:rPr>
              <a:t> (crop, weather, schemes) before losses occur.</a:t>
            </a:r>
            <a:endParaRPr sz="1100">
              <a:solidFill>
                <a:schemeClr val="dk1"/>
              </a:solidFill>
            </a:endParaRPr>
          </a:p>
          <a:p>
            <a:pPr indent="-293211" lvl="0" marL="457200" rtl="0" algn="l">
              <a:lnSpc>
                <a:spcPct val="115000"/>
              </a:lnSpc>
              <a:spcBef>
                <a:spcPts val="0"/>
              </a:spcBef>
              <a:spcAft>
                <a:spcPts val="0"/>
              </a:spcAft>
              <a:buClr>
                <a:schemeClr val="dk1"/>
              </a:buClr>
              <a:buSzPct val="100000"/>
              <a:buChar char="●"/>
            </a:pPr>
            <a:r>
              <a:rPr b="1" lang="en-GB" sz="1100">
                <a:solidFill>
                  <a:schemeClr val="dk1"/>
                </a:solidFill>
              </a:rPr>
              <a:t>Real-time language translation</a:t>
            </a:r>
            <a:r>
              <a:rPr lang="en-GB" sz="1100">
                <a:solidFill>
                  <a:schemeClr val="dk1"/>
                </a:solidFill>
              </a:rPr>
              <a:t> allows direct negotiation with verified buyers across regions, removing middlemen.</a:t>
            </a:r>
            <a:endParaRPr sz="1100">
              <a:solidFill>
                <a:schemeClr val="dk1"/>
              </a:solidFill>
            </a:endParaRPr>
          </a:p>
          <a:p>
            <a:pPr indent="-293211" lvl="0" marL="457200" rtl="0" algn="l">
              <a:lnSpc>
                <a:spcPct val="115000"/>
              </a:lnSpc>
              <a:spcBef>
                <a:spcPts val="0"/>
              </a:spcBef>
              <a:spcAft>
                <a:spcPts val="0"/>
              </a:spcAft>
              <a:buClr>
                <a:schemeClr val="dk1"/>
              </a:buClr>
              <a:buSzPct val="100000"/>
              <a:buChar char="●"/>
            </a:pPr>
            <a:r>
              <a:rPr lang="en-GB" sz="1100">
                <a:solidFill>
                  <a:schemeClr val="dk1"/>
                </a:solidFill>
              </a:rPr>
              <a:t>AI-driven trust checks, pricing, and logistics ensure </a:t>
            </a:r>
            <a:r>
              <a:rPr b="1" lang="en-GB" sz="1100">
                <a:solidFill>
                  <a:schemeClr val="dk1"/>
                </a:solidFill>
              </a:rPr>
              <a:t>fair, transparent, and safe transactions</a:t>
            </a:r>
            <a:r>
              <a:rPr lang="en-GB" sz="1100">
                <a:solidFill>
                  <a:schemeClr val="dk1"/>
                </a:solidFill>
              </a:rPr>
              <a:t>.</a:t>
            </a:r>
            <a:endParaRPr sz="1100">
              <a:solidFill>
                <a:schemeClr val="dk1"/>
              </a:solidFill>
            </a:endParaRPr>
          </a:p>
          <a:p>
            <a:pPr indent="0" lvl="0" marL="457200" rtl="0" algn="l">
              <a:lnSpc>
                <a:spcPct val="115000"/>
              </a:lnSpc>
              <a:spcBef>
                <a:spcPts val="1200"/>
              </a:spcBef>
              <a:spcAft>
                <a:spcPts val="0"/>
              </a:spcAft>
              <a:buNone/>
            </a:pPr>
            <a:r>
              <a:t/>
            </a:r>
            <a:endParaRPr sz="1100">
              <a:solidFill>
                <a:schemeClr val="dk1"/>
              </a:solidFill>
            </a:endParaRPr>
          </a:p>
          <a:p>
            <a:pPr indent="-322580" lvl="0" marL="457200" marR="0" rtl="0" algn="l">
              <a:lnSpc>
                <a:spcPct val="115000"/>
              </a:lnSpc>
              <a:spcBef>
                <a:spcPts val="1200"/>
              </a:spcBef>
              <a:spcAft>
                <a:spcPts val="0"/>
              </a:spcAft>
              <a:buClr>
                <a:srgbClr val="202729"/>
              </a:buClr>
              <a:buSzPct val="100000"/>
              <a:buFont typeface="Manrope SemiBold"/>
              <a:buChar char="●"/>
            </a:pPr>
            <a:r>
              <a:rPr b="0" i="0" lang="en-GB" sz="1600" u="none" cap="none" strike="noStrike">
                <a:solidFill>
                  <a:srgbClr val="202729"/>
                </a:solidFill>
                <a:latin typeface="Manrope SemiBold"/>
                <a:ea typeface="Manrope SemiBold"/>
                <a:cs typeface="Manrope SemiBold"/>
                <a:sym typeface="Manrope SemiBold"/>
              </a:rPr>
              <a:t>USP of the proposed solution</a:t>
            </a:r>
            <a:endParaRPr b="0" i="0" sz="1600" u="none" cap="none" strike="noStrike">
              <a:solidFill>
                <a:srgbClr val="202729"/>
              </a:solidFill>
              <a:latin typeface="Manrope SemiBold"/>
              <a:ea typeface="Manrope SemiBold"/>
              <a:cs typeface="Manrope SemiBold"/>
              <a:sym typeface="Manrope SemiBold"/>
            </a:endParaRPr>
          </a:p>
          <a:p>
            <a:pPr indent="-293211" lvl="0" marL="457200" rtl="0" algn="l">
              <a:lnSpc>
                <a:spcPct val="115000"/>
              </a:lnSpc>
              <a:spcBef>
                <a:spcPts val="0"/>
              </a:spcBef>
              <a:spcAft>
                <a:spcPts val="0"/>
              </a:spcAft>
              <a:buClr>
                <a:schemeClr val="dk1"/>
              </a:buClr>
              <a:buSzPct val="100000"/>
              <a:buChar char="●"/>
            </a:pPr>
            <a:r>
              <a:rPr b="1" lang="en-GB" sz="1100">
                <a:solidFill>
                  <a:schemeClr val="dk1"/>
                </a:solidFill>
              </a:rPr>
              <a:t>End-to-end AI ecosystem</a:t>
            </a:r>
            <a:r>
              <a:rPr lang="en-GB" sz="1100">
                <a:solidFill>
                  <a:schemeClr val="dk1"/>
                </a:solidFill>
              </a:rPr>
              <a:t>: advisory + trusted marketplace in one platform.</a:t>
            </a:r>
            <a:endParaRPr sz="1100">
              <a:solidFill>
                <a:schemeClr val="dk1"/>
              </a:solidFill>
            </a:endParaRPr>
          </a:p>
          <a:p>
            <a:pPr indent="-293211" lvl="0" marL="457200" rtl="0" algn="l">
              <a:lnSpc>
                <a:spcPct val="115000"/>
              </a:lnSpc>
              <a:spcBef>
                <a:spcPts val="0"/>
              </a:spcBef>
              <a:spcAft>
                <a:spcPts val="0"/>
              </a:spcAft>
              <a:buClr>
                <a:schemeClr val="dk1"/>
              </a:buClr>
              <a:buSzPct val="100000"/>
              <a:buChar char="●"/>
            </a:pPr>
            <a:r>
              <a:rPr b="1" lang="en-GB" sz="1100">
                <a:solidFill>
                  <a:schemeClr val="dk1"/>
                </a:solidFill>
              </a:rPr>
              <a:t>Voice-first, multilingual, multimodal AI</a:t>
            </a:r>
            <a:r>
              <a:rPr lang="en-GB" sz="1100">
                <a:solidFill>
                  <a:schemeClr val="dk1"/>
                </a:solidFill>
              </a:rPr>
              <a:t> designed for real rural usage.</a:t>
            </a:r>
            <a:br>
              <a:rPr lang="en-GB" sz="1100">
                <a:solidFill>
                  <a:schemeClr val="dk1"/>
                </a:solidFill>
              </a:rPr>
            </a:br>
            <a:r>
              <a:rPr b="1" lang="en-GB" sz="1100">
                <a:solidFill>
                  <a:schemeClr val="dk1"/>
                </a:solidFill>
              </a:rPr>
              <a:t>Trust re-ranking engine + real-time translation</a:t>
            </a:r>
            <a:r>
              <a:rPr lang="en-GB" sz="1100">
                <a:solidFill>
                  <a:schemeClr val="dk1"/>
                </a:solidFill>
              </a:rPr>
              <a:t> enabling fair, borderless agricultural trade.</a:t>
            </a:r>
            <a:endParaRPr b="0" i="0" sz="1600" u="none" cap="none" strike="noStrike">
              <a:solidFill>
                <a:srgbClr val="202729"/>
              </a:solidFill>
              <a:latin typeface="Manrope SemiBold"/>
              <a:ea typeface="Manrope SemiBold"/>
              <a:cs typeface="Manrope SemiBold"/>
              <a:sym typeface="Manrope SemiBo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pic>
        <p:nvPicPr>
          <p:cNvPr id="75" name="Google Shape;75;p16" title="Artboarddfghjk – 6.png"/>
          <p:cNvPicPr preferRelativeResize="0"/>
          <p:nvPr/>
        </p:nvPicPr>
        <p:blipFill rotWithShape="1">
          <a:blip r:embed="rId3">
            <a:alphaModFix/>
          </a:blip>
          <a:srcRect b="0" l="0" r="0" t="0"/>
          <a:stretch/>
        </p:blipFill>
        <p:spPr>
          <a:xfrm>
            <a:off x="0" y="0"/>
            <a:ext cx="9144018" cy="5143501"/>
          </a:xfrm>
          <a:prstGeom prst="rect">
            <a:avLst/>
          </a:prstGeom>
          <a:noFill/>
          <a:ln>
            <a:noFill/>
          </a:ln>
        </p:spPr>
      </p:pic>
      <p:sp>
        <p:nvSpPr>
          <p:cNvPr id="76" name="Google Shape;76;p16"/>
          <p:cNvSpPr txBox="1"/>
          <p:nvPr/>
        </p:nvSpPr>
        <p:spPr>
          <a:xfrm>
            <a:off x="101300" y="576700"/>
            <a:ext cx="9008700" cy="4520100"/>
          </a:xfrm>
          <a:prstGeom prst="rect">
            <a:avLst/>
          </a:prstGeom>
          <a:noFill/>
          <a:ln>
            <a:noFill/>
          </a:ln>
        </p:spPr>
        <p:txBody>
          <a:bodyPr anchorCtr="0" anchor="t" bIns="91425" lIns="91425" spcFirstLastPara="1" rIns="91425" wrap="square" tIns="91425">
            <a:normAutofit/>
          </a:bodyPr>
          <a:lstStyle/>
          <a:p>
            <a:pPr indent="0" lvl="0" marL="0" marR="0" rtl="0" algn="l">
              <a:lnSpc>
                <a:spcPct val="115000"/>
              </a:lnSpc>
              <a:spcBef>
                <a:spcPts val="0"/>
              </a:spcBef>
              <a:spcAft>
                <a:spcPts val="0"/>
              </a:spcAft>
              <a:buClr>
                <a:srgbClr val="000000"/>
              </a:buClr>
              <a:buSzPts val="935"/>
              <a:buFont typeface="Arial"/>
              <a:buNone/>
            </a:pPr>
            <a:r>
              <a:rPr b="1" i="0" lang="en-GB" sz="1700" u="none" cap="none" strike="noStrike">
                <a:solidFill>
                  <a:srgbClr val="202729"/>
                </a:solidFill>
                <a:latin typeface="Manrope"/>
                <a:ea typeface="Manrope"/>
                <a:cs typeface="Manrope"/>
                <a:sym typeface="Manrope"/>
              </a:rPr>
              <a:t>List of features offered by the solution</a:t>
            </a:r>
            <a:endParaRPr b="1" i="0" sz="1700" u="none" cap="none" strike="noStrike">
              <a:solidFill>
                <a:srgbClr val="202729"/>
              </a:solidFill>
              <a:latin typeface="Manrope"/>
              <a:ea typeface="Manrope"/>
              <a:cs typeface="Manrope"/>
              <a:sym typeface="Manrope"/>
            </a:endParaRPr>
          </a:p>
          <a:p>
            <a:pPr indent="-317683" lvl="0" marL="457200" rtl="0" algn="l">
              <a:lnSpc>
                <a:spcPct val="115000"/>
              </a:lnSpc>
              <a:spcBef>
                <a:spcPts val="1200"/>
              </a:spcBef>
              <a:spcAft>
                <a:spcPts val="0"/>
              </a:spcAft>
              <a:buClr>
                <a:schemeClr val="dk1"/>
              </a:buClr>
              <a:buSzPts val="1403"/>
              <a:buChar char="●"/>
            </a:pPr>
            <a:r>
              <a:rPr lang="en-GB" sz="1402">
                <a:solidFill>
                  <a:schemeClr val="dk1"/>
                </a:solidFill>
              </a:rPr>
              <a:t>Voice-first interaction in local languages</a:t>
            </a:r>
            <a:endParaRPr sz="1402">
              <a:solidFill>
                <a:schemeClr val="dk1"/>
              </a:solidFill>
            </a:endParaRPr>
          </a:p>
          <a:p>
            <a:pPr indent="-317683" lvl="0" marL="457200" rtl="0" algn="l">
              <a:lnSpc>
                <a:spcPct val="115000"/>
              </a:lnSpc>
              <a:spcBef>
                <a:spcPts val="0"/>
              </a:spcBef>
              <a:spcAft>
                <a:spcPts val="0"/>
              </a:spcAft>
              <a:buClr>
                <a:schemeClr val="dk1"/>
              </a:buClr>
              <a:buSzPts val="1403"/>
              <a:buChar char="●"/>
            </a:pPr>
            <a:r>
              <a:rPr lang="en-GB" sz="1402">
                <a:solidFill>
                  <a:schemeClr val="dk1"/>
                </a:solidFill>
              </a:rPr>
              <a:t>Real-time translation across multiple Indian languages for buyer–seller communication</a:t>
            </a:r>
            <a:endParaRPr sz="1402">
              <a:solidFill>
                <a:schemeClr val="dk1"/>
              </a:solidFill>
            </a:endParaRPr>
          </a:p>
          <a:p>
            <a:pPr indent="-317683" lvl="0" marL="457200" rtl="0" algn="l">
              <a:lnSpc>
                <a:spcPct val="115000"/>
              </a:lnSpc>
              <a:spcBef>
                <a:spcPts val="0"/>
              </a:spcBef>
              <a:spcAft>
                <a:spcPts val="0"/>
              </a:spcAft>
              <a:buClr>
                <a:schemeClr val="dk1"/>
              </a:buClr>
              <a:buSzPts val="1403"/>
              <a:buChar char="●"/>
            </a:pPr>
            <a:r>
              <a:rPr lang="en-GB" sz="1402">
                <a:solidFill>
                  <a:schemeClr val="dk1"/>
                </a:solidFill>
              </a:rPr>
              <a:t>Multimodal input support (voice, text, images)</a:t>
            </a:r>
            <a:endParaRPr sz="1402">
              <a:solidFill>
                <a:schemeClr val="dk1"/>
              </a:solidFill>
            </a:endParaRPr>
          </a:p>
          <a:p>
            <a:pPr indent="-317683" lvl="0" marL="457200" rtl="0" algn="l">
              <a:lnSpc>
                <a:spcPct val="115000"/>
              </a:lnSpc>
              <a:spcBef>
                <a:spcPts val="0"/>
              </a:spcBef>
              <a:spcAft>
                <a:spcPts val="0"/>
              </a:spcAft>
              <a:buClr>
                <a:schemeClr val="dk1"/>
              </a:buClr>
              <a:buSzPts val="1403"/>
              <a:buChar char="●"/>
            </a:pPr>
            <a:r>
              <a:rPr lang="en-GB" sz="1402">
                <a:solidFill>
                  <a:schemeClr val="dk1"/>
                </a:solidFill>
              </a:rPr>
              <a:t>AI-based crop disease and soil condition detection using images</a:t>
            </a:r>
            <a:endParaRPr sz="1402">
              <a:solidFill>
                <a:schemeClr val="dk1"/>
              </a:solidFill>
            </a:endParaRPr>
          </a:p>
          <a:p>
            <a:pPr indent="-317683" lvl="0" marL="457200" rtl="0" algn="l">
              <a:lnSpc>
                <a:spcPct val="115000"/>
              </a:lnSpc>
              <a:spcBef>
                <a:spcPts val="0"/>
              </a:spcBef>
              <a:spcAft>
                <a:spcPts val="0"/>
              </a:spcAft>
              <a:buClr>
                <a:schemeClr val="dk1"/>
              </a:buClr>
              <a:buSzPts val="1403"/>
              <a:buChar char="●"/>
            </a:pPr>
            <a:r>
              <a:rPr lang="en-GB" sz="1402">
                <a:solidFill>
                  <a:schemeClr val="dk1"/>
                </a:solidFill>
              </a:rPr>
              <a:t>Weather, yield, flood, and drought prediction alerts</a:t>
            </a:r>
            <a:endParaRPr sz="1402">
              <a:solidFill>
                <a:schemeClr val="dk1"/>
              </a:solidFill>
            </a:endParaRPr>
          </a:p>
          <a:p>
            <a:pPr indent="-317683" lvl="0" marL="457200" rtl="0" algn="l">
              <a:lnSpc>
                <a:spcPct val="115000"/>
              </a:lnSpc>
              <a:spcBef>
                <a:spcPts val="0"/>
              </a:spcBef>
              <a:spcAft>
                <a:spcPts val="0"/>
              </a:spcAft>
              <a:buClr>
                <a:schemeClr val="dk1"/>
              </a:buClr>
              <a:buSzPts val="1403"/>
              <a:buChar char="●"/>
            </a:pPr>
            <a:r>
              <a:rPr lang="en-GB" sz="1402">
                <a:solidFill>
                  <a:schemeClr val="dk1"/>
                </a:solidFill>
              </a:rPr>
              <a:t>Personalized crop and farming recommendations</a:t>
            </a:r>
            <a:endParaRPr sz="1402">
              <a:solidFill>
                <a:schemeClr val="dk1"/>
              </a:solidFill>
            </a:endParaRPr>
          </a:p>
          <a:p>
            <a:pPr indent="-317683" lvl="0" marL="457200" rtl="0" algn="l">
              <a:lnSpc>
                <a:spcPct val="115000"/>
              </a:lnSpc>
              <a:spcBef>
                <a:spcPts val="0"/>
              </a:spcBef>
              <a:spcAft>
                <a:spcPts val="0"/>
              </a:spcAft>
              <a:buClr>
                <a:schemeClr val="dk1"/>
              </a:buClr>
              <a:buSzPts val="1403"/>
              <a:buChar char="●"/>
            </a:pPr>
            <a:r>
              <a:rPr lang="en-GB" sz="1402">
                <a:solidFill>
                  <a:schemeClr val="dk1"/>
                </a:solidFill>
              </a:rPr>
              <a:t>Government scheme discovery, eligibility checks, and guided application support</a:t>
            </a:r>
            <a:endParaRPr sz="1402">
              <a:solidFill>
                <a:schemeClr val="dk1"/>
              </a:solidFill>
            </a:endParaRPr>
          </a:p>
          <a:p>
            <a:pPr indent="-317683" lvl="0" marL="457200" rtl="0" algn="l">
              <a:lnSpc>
                <a:spcPct val="115000"/>
              </a:lnSpc>
              <a:spcBef>
                <a:spcPts val="0"/>
              </a:spcBef>
              <a:spcAft>
                <a:spcPts val="0"/>
              </a:spcAft>
              <a:buClr>
                <a:schemeClr val="dk1"/>
              </a:buClr>
              <a:buSzPts val="1403"/>
              <a:buChar char="●"/>
            </a:pPr>
            <a:r>
              <a:rPr lang="en-GB" sz="1402">
                <a:solidFill>
                  <a:schemeClr val="dk1"/>
                </a:solidFill>
              </a:rPr>
              <a:t>Verified buyer–seller matching using AI-driven trust re-ranking strict gurdial's and Responsible AI</a:t>
            </a:r>
            <a:endParaRPr sz="1402">
              <a:solidFill>
                <a:schemeClr val="dk1"/>
              </a:solidFill>
            </a:endParaRPr>
          </a:p>
          <a:p>
            <a:pPr indent="-317683" lvl="0" marL="457200" rtl="0" algn="l">
              <a:lnSpc>
                <a:spcPct val="115000"/>
              </a:lnSpc>
              <a:spcBef>
                <a:spcPts val="0"/>
              </a:spcBef>
              <a:spcAft>
                <a:spcPts val="0"/>
              </a:spcAft>
              <a:buClr>
                <a:schemeClr val="dk1"/>
              </a:buClr>
              <a:buSzPts val="1403"/>
              <a:buChar char="●"/>
            </a:pPr>
            <a:r>
              <a:rPr lang="en-GB" sz="1402">
                <a:solidFill>
                  <a:schemeClr val="dk1"/>
                </a:solidFill>
              </a:rPr>
              <a:t>Middleman-free price discovery with real-time market price intelligence</a:t>
            </a:r>
            <a:endParaRPr sz="1402">
              <a:solidFill>
                <a:schemeClr val="dk1"/>
              </a:solidFill>
            </a:endParaRPr>
          </a:p>
          <a:p>
            <a:pPr indent="-317683" lvl="0" marL="457200" rtl="0" algn="l">
              <a:lnSpc>
                <a:spcPct val="115000"/>
              </a:lnSpc>
              <a:spcBef>
                <a:spcPts val="0"/>
              </a:spcBef>
              <a:spcAft>
                <a:spcPts val="0"/>
              </a:spcAft>
              <a:buClr>
                <a:schemeClr val="dk1"/>
              </a:buClr>
              <a:buSzPts val="1403"/>
              <a:buChar char="●"/>
            </a:pPr>
            <a:r>
              <a:rPr lang="en-GB" sz="1402">
                <a:solidFill>
                  <a:schemeClr val="dk1"/>
                </a:solidFill>
              </a:rPr>
              <a:t>GST, transaction, and image-based verification to reduce fraud</a:t>
            </a:r>
            <a:endParaRPr sz="1402">
              <a:solidFill>
                <a:schemeClr val="dk1"/>
              </a:solidFill>
            </a:endParaRPr>
          </a:p>
          <a:p>
            <a:pPr indent="-317683" lvl="0" marL="457200" rtl="0" algn="l">
              <a:lnSpc>
                <a:spcPct val="115000"/>
              </a:lnSpc>
              <a:spcBef>
                <a:spcPts val="0"/>
              </a:spcBef>
              <a:spcAft>
                <a:spcPts val="0"/>
              </a:spcAft>
              <a:buClr>
                <a:schemeClr val="dk1"/>
              </a:buClr>
              <a:buSzPts val="1403"/>
              <a:buChar char="●"/>
            </a:pPr>
            <a:r>
              <a:rPr lang="en-GB" sz="1402">
                <a:solidFill>
                  <a:schemeClr val="dk1"/>
                </a:solidFill>
              </a:rPr>
              <a:t>Logistics and transport optimization suggestions</a:t>
            </a:r>
            <a:endParaRPr sz="1402">
              <a:solidFill>
                <a:schemeClr val="dk1"/>
              </a:solidFill>
            </a:endParaRPr>
          </a:p>
          <a:p>
            <a:pPr indent="-317683" lvl="0" marL="457200" rtl="0" algn="l">
              <a:lnSpc>
                <a:spcPct val="115000"/>
              </a:lnSpc>
              <a:spcBef>
                <a:spcPts val="0"/>
              </a:spcBef>
              <a:spcAft>
                <a:spcPts val="0"/>
              </a:spcAft>
              <a:buClr>
                <a:schemeClr val="dk1"/>
              </a:buClr>
              <a:buSzPts val="1403"/>
              <a:buChar char="●"/>
            </a:pPr>
            <a:r>
              <a:rPr lang="en-GB" sz="1402">
                <a:solidFill>
                  <a:schemeClr val="dk1"/>
                </a:solidFill>
              </a:rPr>
              <a:t>Transparent deal tracking and transaction history</a:t>
            </a:r>
            <a:endParaRPr sz="1402">
              <a:solidFill>
                <a:schemeClr val="dk1"/>
              </a:solidFill>
            </a:endParaRPr>
          </a:p>
          <a:p>
            <a:pPr indent="-317683" lvl="0" marL="457200" rtl="0" algn="l">
              <a:lnSpc>
                <a:spcPct val="115000"/>
              </a:lnSpc>
              <a:spcBef>
                <a:spcPts val="0"/>
              </a:spcBef>
              <a:spcAft>
                <a:spcPts val="0"/>
              </a:spcAft>
              <a:buClr>
                <a:schemeClr val="dk1"/>
              </a:buClr>
              <a:buSzPts val="1403"/>
              <a:buChar char="●"/>
            </a:pPr>
            <a:r>
              <a:rPr lang="en-GB" sz="1402">
                <a:solidFill>
                  <a:schemeClr val="dk1"/>
                </a:solidFill>
              </a:rPr>
              <a:t>Region-specific insights based on local trends and demand signals</a:t>
            </a:r>
            <a:endParaRPr sz="1402">
              <a:solidFill>
                <a:schemeClr val="dk1"/>
              </a:solidFill>
            </a:endParaRPr>
          </a:p>
          <a:p>
            <a:pPr indent="-317683" lvl="0" marL="457200" rtl="0" algn="l">
              <a:lnSpc>
                <a:spcPct val="115000"/>
              </a:lnSpc>
              <a:spcBef>
                <a:spcPts val="0"/>
              </a:spcBef>
              <a:spcAft>
                <a:spcPts val="0"/>
              </a:spcAft>
              <a:buClr>
                <a:schemeClr val="dk1"/>
              </a:buClr>
              <a:buSzPts val="1403"/>
              <a:buChar char="●"/>
            </a:pPr>
            <a:r>
              <a:rPr lang="en-GB" sz="1402">
                <a:solidFill>
                  <a:schemeClr val="dk1"/>
                </a:solidFill>
              </a:rPr>
              <a:t>Scalable, API-driven architecture for multi-state and cross-border expansion</a:t>
            </a:r>
            <a:endParaRPr sz="1402">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pic>
        <p:nvPicPr>
          <p:cNvPr id="81" name="Google Shape;81;p17" title="Artboarddfghjk – 6.png"/>
          <p:cNvPicPr preferRelativeResize="0"/>
          <p:nvPr/>
        </p:nvPicPr>
        <p:blipFill rotWithShape="1">
          <a:blip r:embed="rId3">
            <a:alphaModFix/>
          </a:blip>
          <a:srcRect b="0" l="0" r="0" t="0"/>
          <a:stretch/>
        </p:blipFill>
        <p:spPr>
          <a:xfrm>
            <a:off x="0" y="0"/>
            <a:ext cx="9144018" cy="5143501"/>
          </a:xfrm>
          <a:prstGeom prst="rect">
            <a:avLst/>
          </a:prstGeom>
          <a:noFill/>
          <a:ln>
            <a:noFill/>
          </a:ln>
        </p:spPr>
      </p:pic>
      <p:sp>
        <p:nvSpPr>
          <p:cNvPr id="82" name="Google Shape;82;p17"/>
          <p:cNvSpPr txBox="1"/>
          <p:nvPr/>
        </p:nvSpPr>
        <p:spPr>
          <a:xfrm>
            <a:off x="241575" y="551825"/>
            <a:ext cx="7531800" cy="3669600"/>
          </a:xfrm>
          <a:prstGeom prst="rect">
            <a:avLst/>
          </a:prstGeom>
          <a:noFill/>
          <a:ln>
            <a:noFill/>
          </a:ln>
        </p:spPr>
        <p:txBody>
          <a:bodyPr anchorCtr="0" anchor="t" bIns="91425" lIns="91425" spcFirstLastPara="1" rIns="91425" wrap="square" tIns="91425">
            <a:normAutofit/>
          </a:bodyPr>
          <a:lstStyle/>
          <a:p>
            <a:pPr indent="0" lvl="0" marL="0" marR="0" rtl="0" algn="l">
              <a:lnSpc>
                <a:spcPct val="115000"/>
              </a:lnSpc>
              <a:spcBef>
                <a:spcPts val="0"/>
              </a:spcBef>
              <a:spcAft>
                <a:spcPts val="0"/>
              </a:spcAft>
              <a:buClr>
                <a:srgbClr val="000000"/>
              </a:buClr>
              <a:buSzPts val="935"/>
              <a:buFont typeface="Arial"/>
              <a:buNone/>
            </a:pPr>
            <a:r>
              <a:rPr b="1" i="0" lang="en-GB" sz="1700" u="none" cap="none" strike="noStrike">
                <a:solidFill>
                  <a:srgbClr val="202729"/>
                </a:solidFill>
                <a:latin typeface="Manrope"/>
                <a:ea typeface="Manrope"/>
                <a:cs typeface="Manrope"/>
                <a:sym typeface="Manrope"/>
              </a:rPr>
              <a:t>Process flow diagram or Use-case diagram</a:t>
            </a:r>
            <a:endParaRPr b="1" i="0" sz="1700" u="none" cap="none" strike="noStrike">
              <a:solidFill>
                <a:srgbClr val="202729"/>
              </a:solidFill>
              <a:latin typeface="Manrope"/>
              <a:ea typeface="Manrope"/>
              <a:cs typeface="Manrope"/>
              <a:sym typeface="Manrope"/>
            </a:endParaRPr>
          </a:p>
          <a:p>
            <a:pPr indent="0" lvl="0" marL="0" marR="0" rtl="0" algn="l">
              <a:lnSpc>
                <a:spcPct val="115000"/>
              </a:lnSpc>
              <a:spcBef>
                <a:spcPts val="1200"/>
              </a:spcBef>
              <a:spcAft>
                <a:spcPts val="1200"/>
              </a:spcAft>
              <a:buClr>
                <a:srgbClr val="000000"/>
              </a:buClr>
              <a:buSzPts val="935"/>
              <a:buFont typeface="Arial"/>
              <a:buNone/>
            </a:pPr>
            <a:r>
              <a:t/>
            </a:r>
            <a:endParaRPr b="0" i="0" sz="1400" u="none" cap="none" strike="noStrike">
              <a:solidFill>
                <a:srgbClr val="434343"/>
              </a:solidFill>
              <a:latin typeface="Manrope"/>
              <a:ea typeface="Manrope"/>
              <a:cs typeface="Manrope"/>
              <a:sym typeface="Manrope"/>
            </a:endParaRPr>
          </a:p>
        </p:txBody>
      </p:sp>
      <p:pic>
        <p:nvPicPr>
          <p:cNvPr id="83" name="Google Shape;83;p17"/>
          <p:cNvPicPr preferRelativeResize="0"/>
          <p:nvPr/>
        </p:nvPicPr>
        <p:blipFill>
          <a:blip r:embed="rId4">
            <a:alphaModFix/>
          </a:blip>
          <a:stretch>
            <a:fillRect/>
          </a:stretch>
        </p:blipFill>
        <p:spPr>
          <a:xfrm>
            <a:off x="417800" y="942975"/>
            <a:ext cx="7048075" cy="40547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p18" title="Artboarddfghjk – 6.png"/>
          <p:cNvPicPr preferRelativeResize="0"/>
          <p:nvPr/>
        </p:nvPicPr>
        <p:blipFill rotWithShape="1">
          <a:blip r:embed="rId3">
            <a:alphaModFix/>
          </a:blip>
          <a:srcRect b="0" l="0" r="0" t="0"/>
          <a:stretch/>
        </p:blipFill>
        <p:spPr>
          <a:xfrm>
            <a:off x="0" y="0"/>
            <a:ext cx="9144018" cy="5143501"/>
          </a:xfrm>
          <a:prstGeom prst="rect">
            <a:avLst/>
          </a:prstGeom>
          <a:noFill/>
          <a:ln>
            <a:noFill/>
          </a:ln>
        </p:spPr>
      </p:pic>
      <p:sp>
        <p:nvSpPr>
          <p:cNvPr id="89" name="Google Shape;89;p18"/>
          <p:cNvSpPr txBox="1"/>
          <p:nvPr/>
        </p:nvSpPr>
        <p:spPr>
          <a:xfrm>
            <a:off x="342875" y="537700"/>
            <a:ext cx="7531800" cy="3964200"/>
          </a:xfrm>
          <a:prstGeom prst="rect">
            <a:avLst/>
          </a:prstGeom>
          <a:noFill/>
          <a:ln>
            <a:noFill/>
          </a:ln>
        </p:spPr>
        <p:txBody>
          <a:bodyPr anchorCtr="0" anchor="t" bIns="91425" lIns="91425" spcFirstLastPara="1" rIns="91425" wrap="square" tIns="91425">
            <a:normAutofit/>
          </a:bodyPr>
          <a:lstStyle/>
          <a:p>
            <a:pPr indent="0" lvl="0" marL="0" marR="0" rtl="0" algn="l">
              <a:lnSpc>
                <a:spcPct val="115000"/>
              </a:lnSpc>
              <a:spcBef>
                <a:spcPts val="0"/>
              </a:spcBef>
              <a:spcAft>
                <a:spcPts val="1200"/>
              </a:spcAft>
              <a:buClr>
                <a:srgbClr val="000000"/>
              </a:buClr>
              <a:buSzPts val="935"/>
              <a:buFont typeface="Arial"/>
              <a:buNone/>
            </a:pPr>
            <a:r>
              <a:rPr b="1" i="0" lang="en-GB" sz="1700" u="none" cap="none" strike="noStrike">
                <a:solidFill>
                  <a:srgbClr val="202729"/>
                </a:solidFill>
                <a:latin typeface="Manrope"/>
                <a:ea typeface="Manrope"/>
                <a:cs typeface="Manrope"/>
                <a:sym typeface="Manrope"/>
              </a:rPr>
              <a:t>Architecture diagram of the proposed solution:</a:t>
            </a:r>
            <a:endParaRPr b="0" i="0" sz="1400" u="none" cap="none" strike="noStrike">
              <a:solidFill>
                <a:srgbClr val="434343"/>
              </a:solidFill>
              <a:latin typeface="Manrope"/>
              <a:ea typeface="Manrope"/>
              <a:cs typeface="Manrope"/>
              <a:sym typeface="Manrope"/>
            </a:endParaRPr>
          </a:p>
        </p:txBody>
      </p:sp>
      <p:pic>
        <p:nvPicPr>
          <p:cNvPr id="90" name="Google Shape;90;p18" title="Condensed_arch (1).jpg"/>
          <p:cNvPicPr preferRelativeResize="0"/>
          <p:nvPr/>
        </p:nvPicPr>
        <p:blipFill>
          <a:blip r:embed="rId4">
            <a:alphaModFix/>
          </a:blip>
          <a:stretch>
            <a:fillRect/>
          </a:stretch>
        </p:blipFill>
        <p:spPr>
          <a:xfrm>
            <a:off x="172300" y="966350"/>
            <a:ext cx="8722611" cy="353555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pic>
        <p:nvPicPr>
          <p:cNvPr id="95" name="Google Shape;95;p19" title="Artboarddfghjk – 6.png"/>
          <p:cNvPicPr preferRelativeResize="0"/>
          <p:nvPr/>
        </p:nvPicPr>
        <p:blipFill rotWithShape="1">
          <a:blip r:embed="rId3">
            <a:alphaModFix/>
          </a:blip>
          <a:srcRect b="0" l="0" r="0" t="0"/>
          <a:stretch/>
        </p:blipFill>
        <p:spPr>
          <a:xfrm>
            <a:off x="0" y="0"/>
            <a:ext cx="9144018" cy="5143501"/>
          </a:xfrm>
          <a:prstGeom prst="rect">
            <a:avLst/>
          </a:prstGeom>
          <a:noFill/>
          <a:ln>
            <a:noFill/>
          </a:ln>
        </p:spPr>
      </p:pic>
      <p:sp>
        <p:nvSpPr>
          <p:cNvPr id="96" name="Google Shape;96;p19"/>
          <p:cNvSpPr txBox="1"/>
          <p:nvPr/>
        </p:nvSpPr>
        <p:spPr>
          <a:xfrm>
            <a:off x="311700" y="863550"/>
            <a:ext cx="7531800" cy="3669600"/>
          </a:xfrm>
          <a:prstGeom prst="rect">
            <a:avLst/>
          </a:prstGeom>
          <a:noFill/>
          <a:ln>
            <a:noFill/>
          </a:ln>
        </p:spPr>
        <p:txBody>
          <a:bodyPr anchorCtr="0" anchor="t" bIns="91425" lIns="91425" spcFirstLastPara="1" rIns="91425" wrap="square" tIns="91425">
            <a:normAutofit lnSpcReduction="20000"/>
          </a:bodyPr>
          <a:lstStyle/>
          <a:p>
            <a:pPr indent="0" lvl="0" marL="0" marR="0" rtl="0" algn="l">
              <a:lnSpc>
                <a:spcPct val="115000"/>
              </a:lnSpc>
              <a:spcBef>
                <a:spcPts val="0"/>
              </a:spcBef>
              <a:spcAft>
                <a:spcPts val="0"/>
              </a:spcAft>
              <a:buClr>
                <a:srgbClr val="000000"/>
              </a:buClr>
              <a:buSzPts val="935"/>
              <a:buFont typeface="Arial"/>
              <a:buNone/>
            </a:pPr>
            <a:r>
              <a:rPr b="1" i="0" lang="en-GB" sz="1700" u="none" cap="none" strike="noStrike">
                <a:solidFill>
                  <a:srgbClr val="202729"/>
                </a:solidFill>
                <a:latin typeface="Manrope"/>
                <a:ea typeface="Manrope"/>
                <a:cs typeface="Manrope"/>
                <a:sym typeface="Manrope"/>
              </a:rPr>
              <a:t>Technologies to be used in the solution:</a:t>
            </a:r>
            <a:endParaRPr b="1" i="0" sz="1700" u="none" cap="none" strike="noStrike">
              <a:solidFill>
                <a:srgbClr val="202729"/>
              </a:solidFill>
              <a:latin typeface="Manrope"/>
              <a:ea typeface="Manrope"/>
              <a:cs typeface="Manrope"/>
              <a:sym typeface="Manrope"/>
            </a:endParaRPr>
          </a:p>
          <a:p>
            <a:pPr indent="-317500" lvl="0" marL="457200" rtl="0" algn="l">
              <a:lnSpc>
                <a:spcPct val="115000"/>
              </a:lnSpc>
              <a:spcBef>
                <a:spcPts val="1200"/>
              </a:spcBef>
              <a:spcAft>
                <a:spcPts val="0"/>
              </a:spcAft>
              <a:buClr>
                <a:schemeClr val="dk1"/>
              </a:buClr>
              <a:buSzPts val="1400"/>
              <a:buChar char="●"/>
            </a:pPr>
            <a:r>
              <a:rPr b="1" lang="en-GB">
                <a:solidFill>
                  <a:schemeClr val="dk1"/>
                </a:solidFill>
              </a:rPr>
              <a:t>Frontend</a:t>
            </a:r>
            <a:r>
              <a:rPr lang="en-GB">
                <a:solidFill>
                  <a:schemeClr val="dk1"/>
                </a:solidFill>
              </a:rPr>
              <a:t>: React (admin &amp; analytics), offline caching, low-bandwidth optimization.</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b="1" lang="en-GB">
                <a:solidFill>
                  <a:schemeClr val="dk1"/>
                </a:solidFill>
              </a:rPr>
              <a:t>Backend &amp; APIs</a:t>
            </a:r>
            <a:r>
              <a:rPr lang="en-GB">
                <a:solidFill>
                  <a:schemeClr val="dk1"/>
                </a:solidFill>
              </a:rPr>
              <a:t>: FastAPI (Python), REST + optional GraphQL, Docker.</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b="1" lang="en-GB">
                <a:solidFill>
                  <a:schemeClr val="dk1"/>
                </a:solidFill>
              </a:rPr>
              <a:t>AI &amp; Machine Learning</a:t>
            </a:r>
            <a:r>
              <a:rPr lang="en-GB">
                <a:solidFill>
                  <a:schemeClr val="dk1"/>
                </a:solidFill>
              </a:rPr>
              <a:t>: PyTorch / TensorFlow (core open-source models), Amazon SageMaker (optional large-scale training &amp; inference), crop/yield/trust-ranking models.</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b="1" lang="en-GB">
                <a:solidFill>
                  <a:schemeClr val="dk1"/>
                </a:solidFill>
              </a:rPr>
              <a:t>Computer Vision: </a:t>
            </a:r>
            <a:r>
              <a:rPr lang="en-GB">
                <a:solidFill>
                  <a:schemeClr val="dk1"/>
                </a:solidFill>
              </a:rPr>
              <a:t>OpenCV, custom CNN / Vision Transformer models., Bedrock multimodal, Image RAG - Amazon Rekognition.</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b="1" lang="en-GB">
                <a:solidFill>
                  <a:schemeClr val="dk1"/>
                </a:solidFill>
              </a:rPr>
              <a:t>NLP, LLM,  Speech &amp; Translation</a:t>
            </a:r>
            <a:r>
              <a:rPr lang="en-GB">
                <a:solidFill>
                  <a:schemeClr val="dk1"/>
                </a:solidFill>
              </a:rPr>
              <a:t>:Amazon Transcribe, Amazon Polly, Amazon Translate, LLM - Bedrock Sonnet multi modals.</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b="1" lang="en-GB">
                <a:solidFill>
                  <a:schemeClr val="dk1"/>
                </a:solidFill>
              </a:rPr>
              <a:t>Data &amp; Storage</a:t>
            </a:r>
            <a:r>
              <a:rPr lang="en-GB">
                <a:solidFill>
                  <a:schemeClr val="dk1"/>
                </a:solidFill>
              </a:rPr>
              <a:t>: PostgreSQL, Amazon Opensearch, Amazon S3 (images, documents, audio).</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b="1" lang="en-GB">
                <a:solidFill>
                  <a:schemeClr val="dk1"/>
                </a:solidFill>
              </a:rPr>
              <a:t>Real-Time Events &amp; Messaging</a:t>
            </a:r>
            <a:r>
              <a:rPr lang="en-GB">
                <a:solidFill>
                  <a:schemeClr val="dk1"/>
                </a:solidFill>
              </a:rPr>
              <a:t>: Amazon EventBridge, AWS SNS, AWS SQS.</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b="1" lang="en-GB">
                <a:solidFill>
                  <a:schemeClr val="dk1"/>
                </a:solidFill>
              </a:rPr>
              <a:t>Exte</a:t>
            </a:r>
            <a:r>
              <a:rPr b="1" lang="en-GB">
                <a:solidFill>
                  <a:schemeClr val="dk1"/>
                </a:solidFill>
              </a:rPr>
              <a:t>r</a:t>
            </a:r>
            <a:r>
              <a:rPr b="1" lang="en-GB">
                <a:solidFill>
                  <a:schemeClr val="dk1"/>
                </a:solidFill>
              </a:rPr>
              <a:t>nal Data Integrations</a:t>
            </a:r>
            <a:r>
              <a:rPr lang="en-GB">
                <a:solidFill>
                  <a:schemeClr val="dk1"/>
                </a:solidFill>
              </a:rPr>
              <a:t>: Weather APIs, market price feeds, government portals.</a:t>
            </a:r>
            <a:endParaRPr>
              <a:solidFill>
                <a:schemeClr val="dk1"/>
              </a:solidFill>
            </a:endParaRPr>
          </a:p>
          <a:p>
            <a:pPr indent="0" lvl="0" marL="457200" rtl="0" algn="l">
              <a:lnSpc>
                <a:spcPct val="115000"/>
              </a:lnSpc>
              <a:spcBef>
                <a:spcPts val="1200"/>
              </a:spcBef>
              <a:spcAft>
                <a:spcPts val="1200"/>
              </a:spcAft>
              <a:buNone/>
            </a:pPr>
            <a:r>
              <a:t/>
            </a:r>
            <a:endParaRPr b="1" sz="1700">
              <a:solidFill>
                <a:srgbClr val="202729"/>
              </a:solidFill>
              <a:latin typeface="Manrope"/>
              <a:ea typeface="Manrope"/>
              <a:cs typeface="Manrope"/>
              <a:sym typeface="Manrope"/>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pic>
        <p:nvPicPr>
          <p:cNvPr id="101" name="Google Shape;101;p20" title="AI for Bharddat BANNER – 5.png"/>
          <p:cNvPicPr preferRelativeResize="0"/>
          <p:nvPr/>
        </p:nvPicPr>
        <p:blipFill rotWithShape="1">
          <a:blip r:embed="rId3">
            <a:alphaModFix/>
          </a:blip>
          <a:srcRect b="0" l="0" r="0" t="0"/>
          <a:stretch/>
        </p:blipFill>
        <p:spPr>
          <a:xfrm>
            <a:off x="0" y="0"/>
            <a:ext cx="9144018" cy="514350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